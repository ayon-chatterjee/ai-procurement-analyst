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2563EB"/>
          </a:solidFill>
          <a:ln w="12700">
            <a:solidFill>
              <a:srgbClr val="2563EB"/>
            </a:solidFill>
            <a:prstDash val="solid"/>
          </a:ln>
        </p:spPr>
      </p:sp>
      <p:sp>
        <p:nvSpPr>
          <p:cNvPr id="3" name="Text 1"/>
          <p:cNvSpPr txBox="1"/>
          <p:nvPr/>
        </p:nvSpPr>
        <p:spPr>
          <a:xfrm>
            <a:off x="713232" y="1874520"/>
            <a:ext cx="10765231" cy="274320"/>
          </a:xfrm>
          <a:prstGeom prst="rect">
            <a:avLst/>
          </a:prstGeom>
          <a:noFill/>
          <a:ln/>
        </p:spPr>
        <p:txBody>
          <a:bodyPr wrap="square" lIns="0" tIns="0" rIns="0" bIns="0" rtlCol="0" anchor="ctr"/>
          <a:lstStyle/>
          <a:p>
            <a:pPr indent="0" marL="0">
              <a:buNone/>
            </a:pPr>
            <a:r>
              <a:rPr lang="en-US" sz="1100" spc="220" kern="0" dirty="0">
                <a:solidFill>
                  <a:srgbClr val="7FB2FF"/>
                </a:solidFill>
                <a:latin typeface="Courier New" pitchFamily="34" charset="0"/>
                <a:ea typeface="Courier New" pitchFamily="34" charset="-122"/>
                <a:cs typeface="Courier New" pitchFamily="34" charset="-120"/>
              </a:rPr>
              <a:t>SETUP GUIDE</a:t>
            </a:r>
            <a:endParaRPr lang="en-US" sz="1100" dirty="0"/>
          </a:p>
        </p:txBody>
      </p:sp>
      <p:sp>
        <p:nvSpPr>
          <p:cNvPr id="4" name="Text 2"/>
          <p:cNvSpPr txBox="1"/>
          <p:nvPr/>
        </p:nvSpPr>
        <p:spPr>
          <a:xfrm>
            <a:off x="713232" y="2240280"/>
            <a:ext cx="8778240" cy="1737360"/>
          </a:xfrm>
          <a:prstGeom prst="rect">
            <a:avLst/>
          </a:prstGeom>
          <a:noFill/>
          <a:ln/>
        </p:spPr>
        <p:txBody>
          <a:bodyPr wrap="square" lIns="0" tIns="0" rIns="0" bIns="0" rtlCol="0" anchor="ctr"/>
          <a:lstStyle/>
          <a:p>
            <a:pPr indent="0" marL="0">
              <a:lnSpc>
                <a:spcPct val="102000"/>
              </a:lnSpc>
              <a:buNone/>
            </a:pPr>
            <a:r>
              <a:rPr lang="en-US" sz="4600" b="1" dirty="0">
                <a:solidFill>
                  <a:srgbClr val="FFFFFF"/>
                </a:solidFill>
                <a:latin typeface="Cambria" pitchFamily="34" charset="0"/>
                <a:ea typeface="Cambria" pitchFamily="34" charset="-122"/>
                <a:cs typeface="Cambria" pitchFamily="34" charset="-120"/>
              </a:rPr>
              <a:t>Set up the AI</a:t>
            </a:r>
            <a:endParaRPr lang="en-US" sz="4600" dirty="0"/>
          </a:p>
          <a:p>
            <a:pPr indent="0" marL="0">
              <a:lnSpc>
                <a:spcPct val="102000"/>
              </a:lnSpc>
              <a:buNone/>
            </a:pPr>
            <a:r>
              <a:rPr lang="en-US" sz="4600" b="1" dirty="0">
                <a:solidFill>
                  <a:srgbClr val="FFFFFF"/>
                </a:solidFill>
                <a:latin typeface="Cambria" pitchFamily="34" charset="0"/>
                <a:ea typeface="Cambria" pitchFamily="34" charset="-122"/>
                <a:cs typeface="Cambria" pitchFamily="34" charset="-120"/>
              </a:rPr>
              <a:t>Procurement Analyst</a:t>
            </a:r>
            <a:endParaRPr lang="en-US" sz="4600" dirty="0"/>
          </a:p>
        </p:txBody>
      </p:sp>
      <p:sp>
        <p:nvSpPr>
          <p:cNvPr id="5" name="Text 3"/>
          <p:cNvSpPr txBox="1"/>
          <p:nvPr/>
        </p:nvSpPr>
        <p:spPr>
          <a:xfrm>
            <a:off x="713232" y="4069080"/>
            <a:ext cx="8778240" cy="365760"/>
          </a:xfrm>
          <a:prstGeom prst="rect">
            <a:avLst/>
          </a:prstGeom>
          <a:noFill/>
          <a:ln/>
        </p:spPr>
        <p:txBody>
          <a:bodyPr wrap="square" lIns="0" tIns="0" rIns="0" bIns="0" rtlCol="0" anchor="ctr"/>
          <a:lstStyle/>
          <a:p>
            <a:pPr indent="0" marL="0">
              <a:buNone/>
            </a:pPr>
            <a:r>
              <a:rPr lang="en-US" sz="1700" dirty="0">
                <a:solidFill>
                  <a:srgbClr val="AFC0D6"/>
                </a:solidFill>
                <a:latin typeface="Calibri" pitchFamily="34" charset="0"/>
                <a:ea typeface="Calibri" pitchFamily="34" charset="-122"/>
                <a:cs typeface="Calibri" pitchFamily="34" charset="-120"/>
              </a:rPr>
              <a:t>Six steps, about fifteen minutes — most of it waiting for the demo to build.</a:t>
            </a:r>
            <a:endParaRPr lang="en-US" sz="1700" dirty="0"/>
          </a:p>
        </p:txBody>
      </p:sp>
      <p:sp>
        <p:nvSpPr>
          <p:cNvPr id="6" name="Shape 4"/>
          <p:cNvSpPr/>
          <p:nvPr/>
        </p:nvSpPr>
        <p:spPr>
          <a:xfrm>
            <a:off x="713232" y="4754880"/>
            <a:ext cx="2194560" cy="18288"/>
          </a:xfrm>
          <a:prstGeom prst="rect">
            <a:avLst/>
          </a:prstGeom>
          <a:solidFill>
            <a:srgbClr val="3D5578"/>
          </a:solidFill>
          <a:ln w="12700">
            <a:solidFill>
              <a:srgbClr val="3D5578"/>
            </a:solidFill>
            <a:prstDash val="solid"/>
          </a:ln>
        </p:spPr>
      </p:sp>
      <p:sp>
        <p:nvSpPr>
          <p:cNvPr id="7" name="Text 5"/>
          <p:cNvSpPr txBox="1"/>
          <p:nvPr/>
        </p:nvSpPr>
        <p:spPr>
          <a:xfrm>
            <a:off x="713232" y="4937760"/>
            <a:ext cx="8778240" cy="310896"/>
          </a:xfrm>
          <a:prstGeom prst="rect">
            <a:avLst/>
          </a:prstGeom>
          <a:noFill/>
          <a:ln/>
        </p:spPr>
        <p:txBody>
          <a:bodyPr wrap="square" lIns="0" tIns="0" rIns="0" bIns="0" rtlCol="0" anchor="ctr"/>
          <a:lstStyle/>
          <a:p>
            <a:pPr indent="0" marL="0">
              <a:buNone/>
            </a:pPr>
            <a:r>
              <a:rPr lang="en-US" sz="1100" spc="80" kern="0" dirty="0">
                <a:solidFill>
                  <a:srgbClr val="8095B2"/>
                </a:solidFill>
                <a:latin typeface="Courier New" pitchFamily="34" charset="0"/>
                <a:ea typeface="Courier New" pitchFamily="34" charset="-122"/>
                <a:cs typeface="Courier New" pitchFamily="34" charset="-120"/>
              </a:rPr>
              <a:t>Requires a paid Claude plan · Python 3.9+ · no API key</a:t>
            </a:r>
            <a:endParaRPr lang="en-US" sz="1100" dirty="0"/>
          </a:p>
        </p:txBody>
      </p:sp>
      <p:sp>
        <p:nvSpPr>
          <p:cNvPr id="8" name="Text 6"/>
          <p:cNvSpPr txBox="1"/>
          <p:nvPr/>
        </p:nvSpPr>
        <p:spPr>
          <a:xfrm>
            <a:off x="713232" y="6382512"/>
            <a:ext cx="6400800" cy="274320"/>
          </a:xfrm>
          <a:prstGeom prst="rect">
            <a:avLst/>
          </a:prstGeom>
          <a:noFill/>
          <a:ln/>
        </p:spPr>
        <p:txBody>
          <a:bodyPr wrap="square" lIns="0" tIns="0" rIns="0" bIns="0" rtlCol="0" anchor="ctr"/>
          <a:lstStyle/>
          <a:p>
            <a:pPr indent="0" marL="0">
              <a:buNone/>
            </a:pPr>
            <a:r>
              <a:rPr lang="en-US" sz="800" spc="120" kern="0" dirty="0">
                <a:solidFill>
                  <a:srgbClr val="6B7C94"/>
                </a:solidFill>
                <a:latin typeface="Courier New" pitchFamily="34" charset="0"/>
                <a:ea typeface="Courier New" pitchFamily="34" charset="-122"/>
                <a:cs typeface="Courier New" pitchFamily="34" charset="-120"/>
              </a:rPr>
              <a:t>AI PROCUREMENT ANALYST  ·  SETUP GUIDE</a:t>
            </a:r>
            <a:endParaRPr lang="en-US" sz="800" dirty="0"/>
          </a:p>
        </p:txBody>
      </p:sp>
      <p:sp>
        <p:nvSpPr>
          <p:cNvPr id="9" name="Text 7"/>
          <p:cNvSpPr txBox="1"/>
          <p:nvPr/>
        </p:nvSpPr>
        <p:spPr>
          <a:xfrm>
            <a:off x="9649663" y="6382512"/>
            <a:ext cx="1828800" cy="274320"/>
          </a:xfrm>
          <a:prstGeom prst="rect">
            <a:avLst/>
          </a:prstGeom>
          <a:noFill/>
          <a:ln/>
        </p:spPr>
        <p:txBody>
          <a:bodyPr wrap="square" lIns="0" tIns="0" rIns="0" bIns="0" rtlCol="0" anchor="ctr"/>
          <a:lstStyle/>
          <a:p>
            <a:pPr algn="r" indent="0" marL="0">
              <a:buNone/>
            </a:pPr>
            <a:r>
              <a:rPr lang="en-US" sz="800" b="1" spc="60" kern="0" dirty="0">
                <a:solidFill>
                  <a:srgbClr val="9FB0C6"/>
                </a:solidFill>
                <a:latin typeface="Courier New" pitchFamily="34" charset="0"/>
                <a:ea typeface="Courier New" pitchFamily="34" charset="-122"/>
                <a:cs typeface="Courier New" pitchFamily="34" charset="-120"/>
              </a:rPr>
              <a:t>1 / 10</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457200"/>
            <a:ext cx="10765231" cy="237744"/>
          </a:xfrm>
          <a:prstGeom prst="rect">
            <a:avLst/>
          </a:prstGeom>
          <a:noFill/>
          <a:ln/>
        </p:spPr>
        <p:txBody>
          <a:bodyPr wrap="square" lIns="0" tIns="0" rIns="0" bIns="0" rtlCol="0" anchor="ctr"/>
          <a:lstStyle/>
          <a:p>
            <a:pPr indent="0" marL="0">
              <a:buNone/>
            </a:pPr>
            <a:r>
              <a:rPr lang="en-US" sz="950" spc="160" kern="0" dirty="0">
                <a:solidFill>
                  <a:srgbClr val="2563EB"/>
                </a:solidFill>
                <a:latin typeface="Courier New" pitchFamily="34" charset="0"/>
                <a:ea typeface="Courier New" pitchFamily="34" charset="-122"/>
                <a:cs typeface="Courier New" pitchFamily="34" charset="-120"/>
              </a:rPr>
              <a:t>BEFORE YOU START</a:t>
            </a:r>
            <a:endParaRPr lang="en-US" sz="950" dirty="0"/>
          </a:p>
        </p:txBody>
      </p:sp>
      <p:sp>
        <p:nvSpPr>
          <p:cNvPr id="3" name="Text 1"/>
          <p:cNvSpPr txBox="1"/>
          <p:nvPr/>
        </p:nvSpPr>
        <p:spPr>
          <a:xfrm>
            <a:off x="713232" y="731520"/>
            <a:ext cx="10765231" cy="566928"/>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What you need</a:t>
            </a:r>
            <a:endParaRPr lang="en-US" sz="3000" dirty="0"/>
          </a:p>
        </p:txBody>
      </p:sp>
      <p:sp>
        <p:nvSpPr>
          <p:cNvPr id="4" name="Shape 2"/>
          <p:cNvSpPr/>
          <p:nvPr/>
        </p:nvSpPr>
        <p:spPr>
          <a:xfrm>
            <a:off x="713232" y="1389888"/>
            <a:ext cx="10765231" cy="10973"/>
          </a:xfrm>
          <a:prstGeom prst="rect">
            <a:avLst/>
          </a:prstGeom>
          <a:solidFill>
            <a:srgbClr val="DFE3EA"/>
          </a:solidFill>
          <a:ln w="12700">
            <a:solidFill>
              <a:srgbClr val="DFE3EA"/>
            </a:solidFill>
            <a:prstDash val="solid"/>
          </a:ln>
        </p:spPr>
      </p:sp>
      <p:sp>
        <p:nvSpPr>
          <p:cNvPr id="5" name="Shape 3"/>
          <p:cNvSpPr/>
          <p:nvPr/>
        </p:nvSpPr>
        <p:spPr>
          <a:xfrm>
            <a:off x="713232" y="1965960"/>
            <a:ext cx="3405530" cy="45720"/>
          </a:xfrm>
          <a:prstGeom prst="rect">
            <a:avLst/>
          </a:prstGeom>
          <a:solidFill>
            <a:srgbClr val="0F172A"/>
          </a:solidFill>
          <a:ln w="12700">
            <a:solidFill>
              <a:srgbClr val="0F172A"/>
            </a:solidFill>
            <a:prstDash val="solid"/>
          </a:ln>
        </p:spPr>
      </p:sp>
      <p:sp>
        <p:nvSpPr>
          <p:cNvPr id="6" name="Shape 4"/>
          <p:cNvSpPr/>
          <p:nvPr/>
        </p:nvSpPr>
        <p:spPr>
          <a:xfrm>
            <a:off x="713232" y="2011680"/>
            <a:ext cx="3405530" cy="2286000"/>
          </a:xfrm>
          <a:prstGeom prst="rect">
            <a:avLst/>
          </a:prstGeom>
          <a:solidFill>
            <a:srgbClr val="FFFFFF"/>
          </a:solidFill>
          <a:ln w="9525">
            <a:solidFill>
              <a:srgbClr val="DFE3EA"/>
            </a:solidFill>
            <a:prstDash val="solid"/>
          </a:ln>
        </p:spPr>
      </p:sp>
      <p:sp>
        <p:nvSpPr>
          <p:cNvPr id="7" name="Text 5"/>
          <p:cNvSpPr txBox="1"/>
          <p:nvPr/>
        </p:nvSpPr>
        <p:spPr>
          <a:xfrm>
            <a:off x="987552" y="2240280"/>
            <a:ext cx="2856890" cy="219456"/>
          </a:xfrm>
          <a:prstGeom prst="rect">
            <a:avLst/>
          </a:prstGeom>
          <a:noFill/>
          <a:ln/>
        </p:spPr>
        <p:txBody>
          <a:bodyPr wrap="square" lIns="0" tIns="0" rIns="0" bIns="0" rtlCol="0" anchor="ctr"/>
          <a:lstStyle/>
          <a:p>
            <a:pPr indent="0" marL="0">
              <a:buNone/>
            </a:pPr>
            <a:r>
              <a:rPr lang="en-US" sz="950" spc="130" kern="0" dirty="0">
                <a:solidFill>
                  <a:srgbClr val="8A97A8"/>
                </a:solidFill>
                <a:latin typeface="Courier New" pitchFamily="34" charset="0"/>
                <a:ea typeface="Courier New" pitchFamily="34" charset="-122"/>
                <a:cs typeface="Courier New" pitchFamily="34" charset="-120"/>
              </a:rPr>
              <a:t>YOU NEED</a:t>
            </a:r>
            <a:endParaRPr lang="en-US" sz="950" dirty="0"/>
          </a:p>
        </p:txBody>
      </p:sp>
      <p:sp>
        <p:nvSpPr>
          <p:cNvPr id="8" name="Text 6"/>
          <p:cNvSpPr txBox="1"/>
          <p:nvPr/>
        </p:nvSpPr>
        <p:spPr>
          <a:xfrm>
            <a:off x="987552" y="2487168"/>
            <a:ext cx="2856890" cy="365760"/>
          </a:xfrm>
          <a:prstGeom prst="rect">
            <a:avLst/>
          </a:prstGeom>
          <a:noFill/>
          <a:ln/>
        </p:spPr>
        <p:txBody>
          <a:bodyPr wrap="square" lIns="0" tIns="0" rIns="0" bIns="0" rtlCol="0" anchor="ctr"/>
          <a:lstStyle/>
          <a:p>
            <a:pPr indent="0" marL="0">
              <a:buNone/>
            </a:pPr>
            <a:r>
              <a:rPr lang="en-US" sz="1900" b="1" dirty="0">
                <a:solidFill>
                  <a:srgbClr val="0F172A"/>
                </a:solidFill>
                <a:latin typeface="Calibri" pitchFamily="34" charset="0"/>
                <a:ea typeface="Calibri" pitchFamily="34" charset="-122"/>
                <a:cs typeface="Calibri" pitchFamily="34" charset="-120"/>
              </a:rPr>
              <a:t>A paid Claude plan</a:t>
            </a:r>
            <a:endParaRPr lang="en-US" sz="1900" dirty="0"/>
          </a:p>
        </p:txBody>
      </p:sp>
      <p:sp>
        <p:nvSpPr>
          <p:cNvPr id="9" name="Text 7"/>
          <p:cNvSpPr txBox="1"/>
          <p:nvPr/>
        </p:nvSpPr>
        <p:spPr>
          <a:xfrm>
            <a:off x="987552" y="2926080"/>
            <a:ext cx="2856890" cy="1188720"/>
          </a:xfrm>
          <a:prstGeom prst="rect">
            <a:avLst/>
          </a:prstGeom>
          <a:noFill/>
          <a:ln/>
        </p:spPr>
        <p:txBody>
          <a:bodyPr wrap="square" lIns="0" tIns="0" rIns="0" bIns="0" rtlCol="0" anchor="ctr"/>
          <a:lstStyle/>
          <a:p>
            <a:pPr indent="0" marL="0">
              <a:lnSpc>
                <a:spcPct val="114000"/>
              </a:lnSpc>
              <a:buNone/>
            </a:pPr>
            <a:r>
              <a:rPr lang="en-US" sz="1300" dirty="0">
                <a:solidFill>
                  <a:srgbClr val="5C6B80"/>
                </a:solidFill>
                <a:latin typeface="Calibri" pitchFamily="34" charset="0"/>
                <a:ea typeface="Calibri" pitchFamily="34" charset="-122"/>
                <a:cs typeface="Calibri" pitchFamily="34" charset="-120"/>
              </a:rPr>
              <a:t>Pro, Max, Team or Enterprise. The free Claude plan does not include Claude Code — and this app reaches Claude only through Claude Code.</a:t>
            </a:r>
            <a:endParaRPr lang="en-US" sz="1300" dirty="0"/>
          </a:p>
        </p:txBody>
      </p:sp>
      <p:sp>
        <p:nvSpPr>
          <p:cNvPr id="10" name="Shape 8"/>
          <p:cNvSpPr/>
          <p:nvPr/>
        </p:nvSpPr>
        <p:spPr>
          <a:xfrm>
            <a:off x="4393082" y="1965960"/>
            <a:ext cx="3405530" cy="45720"/>
          </a:xfrm>
          <a:prstGeom prst="rect">
            <a:avLst/>
          </a:prstGeom>
          <a:solidFill>
            <a:srgbClr val="0F172A"/>
          </a:solidFill>
          <a:ln w="12700">
            <a:solidFill>
              <a:srgbClr val="0F172A"/>
            </a:solidFill>
            <a:prstDash val="solid"/>
          </a:ln>
        </p:spPr>
      </p:sp>
      <p:sp>
        <p:nvSpPr>
          <p:cNvPr id="11" name="Shape 9"/>
          <p:cNvSpPr/>
          <p:nvPr/>
        </p:nvSpPr>
        <p:spPr>
          <a:xfrm>
            <a:off x="4393082" y="2011680"/>
            <a:ext cx="3405530" cy="2286000"/>
          </a:xfrm>
          <a:prstGeom prst="rect">
            <a:avLst/>
          </a:prstGeom>
          <a:solidFill>
            <a:srgbClr val="FFFFFF"/>
          </a:solidFill>
          <a:ln w="9525">
            <a:solidFill>
              <a:srgbClr val="DFE3EA"/>
            </a:solidFill>
            <a:prstDash val="solid"/>
          </a:ln>
        </p:spPr>
      </p:sp>
      <p:sp>
        <p:nvSpPr>
          <p:cNvPr id="12" name="Text 10"/>
          <p:cNvSpPr txBox="1"/>
          <p:nvPr/>
        </p:nvSpPr>
        <p:spPr>
          <a:xfrm>
            <a:off x="4667402" y="2240280"/>
            <a:ext cx="2856890" cy="219456"/>
          </a:xfrm>
          <a:prstGeom prst="rect">
            <a:avLst/>
          </a:prstGeom>
          <a:noFill/>
          <a:ln/>
        </p:spPr>
        <p:txBody>
          <a:bodyPr wrap="square" lIns="0" tIns="0" rIns="0" bIns="0" rtlCol="0" anchor="ctr"/>
          <a:lstStyle/>
          <a:p>
            <a:pPr indent="0" marL="0">
              <a:buNone/>
            </a:pPr>
            <a:r>
              <a:rPr lang="en-US" sz="950" spc="130" kern="0" dirty="0">
                <a:solidFill>
                  <a:srgbClr val="8A97A8"/>
                </a:solidFill>
                <a:latin typeface="Courier New" pitchFamily="34" charset="0"/>
                <a:ea typeface="Courier New" pitchFamily="34" charset="-122"/>
                <a:cs typeface="Courier New" pitchFamily="34" charset="-120"/>
              </a:rPr>
              <a:t>YOU NEED</a:t>
            </a:r>
            <a:endParaRPr lang="en-US" sz="950" dirty="0"/>
          </a:p>
        </p:txBody>
      </p:sp>
      <p:sp>
        <p:nvSpPr>
          <p:cNvPr id="13" name="Text 11"/>
          <p:cNvSpPr txBox="1"/>
          <p:nvPr/>
        </p:nvSpPr>
        <p:spPr>
          <a:xfrm>
            <a:off x="4667402" y="2487168"/>
            <a:ext cx="2856890" cy="365760"/>
          </a:xfrm>
          <a:prstGeom prst="rect">
            <a:avLst/>
          </a:prstGeom>
          <a:noFill/>
          <a:ln/>
        </p:spPr>
        <p:txBody>
          <a:bodyPr wrap="square" lIns="0" tIns="0" rIns="0" bIns="0" rtlCol="0" anchor="ctr"/>
          <a:lstStyle/>
          <a:p>
            <a:pPr indent="0" marL="0">
              <a:buNone/>
            </a:pPr>
            <a:r>
              <a:rPr lang="en-US" sz="1900" b="1" dirty="0">
                <a:solidFill>
                  <a:srgbClr val="0F172A"/>
                </a:solidFill>
                <a:latin typeface="Calibri" pitchFamily="34" charset="0"/>
                <a:ea typeface="Calibri" pitchFamily="34" charset="-122"/>
                <a:cs typeface="Calibri" pitchFamily="34" charset="-120"/>
              </a:rPr>
              <a:t>Python 3.9 or newer</a:t>
            </a:r>
            <a:endParaRPr lang="en-US" sz="1900" dirty="0"/>
          </a:p>
        </p:txBody>
      </p:sp>
      <p:sp>
        <p:nvSpPr>
          <p:cNvPr id="14" name="Text 12"/>
          <p:cNvSpPr txBox="1"/>
          <p:nvPr/>
        </p:nvSpPr>
        <p:spPr>
          <a:xfrm>
            <a:off x="4667402" y="2926080"/>
            <a:ext cx="2856890" cy="1188720"/>
          </a:xfrm>
          <a:prstGeom prst="rect">
            <a:avLst/>
          </a:prstGeom>
          <a:noFill/>
          <a:ln/>
        </p:spPr>
        <p:txBody>
          <a:bodyPr wrap="square" lIns="0" tIns="0" rIns="0" bIns="0" rtlCol="0" anchor="ctr"/>
          <a:lstStyle/>
          <a:p>
            <a:pPr indent="0" marL="0">
              <a:lnSpc>
                <a:spcPct val="114000"/>
              </a:lnSpc>
              <a:buNone/>
            </a:pPr>
            <a:r>
              <a:rPr lang="en-US" sz="1300" dirty="0">
                <a:solidFill>
                  <a:srgbClr val="5C6B80"/>
                </a:solidFill>
                <a:latin typeface="Calibri" pitchFamily="34" charset="0"/>
                <a:ea typeface="Calibri" pitchFamily="34" charset="-122"/>
                <a:cs typeface="Calibri" pitchFamily="34" charset="-120"/>
              </a:rPr>
              <a:t>Check with python3 --version. Runs on macOS 13+, Windows 10+ or a modern Linux. Five Python packages, one command.</a:t>
            </a:r>
            <a:endParaRPr lang="en-US" sz="1300" dirty="0"/>
          </a:p>
        </p:txBody>
      </p:sp>
      <p:sp>
        <p:nvSpPr>
          <p:cNvPr id="15" name="Shape 13"/>
          <p:cNvSpPr/>
          <p:nvPr/>
        </p:nvSpPr>
        <p:spPr>
          <a:xfrm>
            <a:off x="8072933" y="1965960"/>
            <a:ext cx="3405530" cy="45720"/>
          </a:xfrm>
          <a:prstGeom prst="rect">
            <a:avLst/>
          </a:prstGeom>
          <a:solidFill>
            <a:srgbClr val="2563EB"/>
          </a:solidFill>
          <a:ln w="12700">
            <a:solidFill>
              <a:srgbClr val="2563EB"/>
            </a:solidFill>
            <a:prstDash val="solid"/>
          </a:ln>
        </p:spPr>
      </p:sp>
      <p:sp>
        <p:nvSpPr>
          <p:cNvPr id="16" name="Shape 14"/>
          <p:cNvSpPr/>
          <p:nvPr/>
        </p:nvSpPr>
        <p:spPr>
          <a:xfrm>
            <a:off x="8072933" y="2011680"/>
            <a:ext cx="3405530" cy="2286000"/>
          </a:xfrm>
          <a:prstGeom prst="rect">
            <a:avLst/>
          </a:prstGeom>
          <a:solidFill>
            <a:srgbClr val="FFFFFF"/>
          </a:solidFill>
          <a:ln w="9525">
            <a:solidFill>
              <a:srgbClr val="DFE3EA"/>
            </a:solidFill>
            <a:prstDash val="solid"/>
          </a:ln>
        </p:spPr>
      </p:sp>
      <p:sp>
        <p:nvSpPr>
          <p:cNvPr id="17" name="Text 15"/>
          <p:cNvSpPr txBox="1"/>
          <p:nvPr/>
        </p:nvSpPr>
        <p:spPr>
          <a:xfrm>
            <a:off x="8347253" y="2240280"/>
            <a:ext cx="2856890" cy="219456"/>
          </a:xfrm>
          <a:prstGeom prst="rect">
            <a:avLst/>
          </a:prstGeom>
          <a:noFill/>
          <a:ln/>
        </p:spPr>
        <p:txBody>
          <a:bodyPr wrap="square" lIns="0" tIns="0" rIns="0" bIns="0" rtlCol="0" anchor="ctr"/>
          <a:lstStyle/>
          <a:p>
            <a:pPr indent="0" marL="0">
              <a:buNone/>
            </a:pPr>
            <a:r>
              <a:rPr lang="en-US" sz="950" spc="130" kern="0" dirty="0">
                <a:solidFill>
                  <a:srgbClr val="8A97A8"/>
                </a:solidFill>
                <a:latin typeface="Courier New" pitchFamily="34" charset="0"/>
                <a:ea typeface="Courier New" pitchFamily="34" charset="-122"/>
                <a:cs typeface="Courier New" pitchFamily="34" charset="-120"/>
              </a:rPr>
              <a:t>YOU DON'T NEED</a:t>
            </a:r>
            <a:endParaRPr lang="en-US" sz="950" dirty="0"/>
          </a:p>
        </p:txBody>
      </p:sp>
      <p:sp>
        <p:nvSpPr>
          <p:cNvPr id="18" name="Text 16"/>
          <p:cNvSpPr txBox="1"/>
          <p:nvPr/>
        </p:nvSpPr>
        <p:spPr>
          <a:xfrm>
            <a:off x="8347253" y="2487168"/>
            <a:ext cx="2856890" cy="365760"/>
          </a:xfrm>
          <a:prstGeom prst="rect">
            <a:avLst/>
          </a:prstGeom>
          <a:noFill/>
          <a:ln/>
        </p:spPr>
        <p:txBody>
          <a:bodyPr wrap="square" lIns="0" tIns="0" rIns="0" bIns="0" rtlCol="0" anchor="ctr"/>
          <a:lstStyle/>
          <a:p>
            <a:pPr indent="0" marL="0">
              <a:buNone/>
            </a:pPr>
            <a:r>
              <a:rPr lang="en-US" sz="1900" b="1" dirty="0">
                <a:solidFill>
                  <a:srgbClr val="0F172A"/>
                </a:solidFill>
                <a:latin typeface="Calibri" pitchFamily="34" charset="0"/>
                <a:ea typeface="Calibri" pitchFamily="34" charset="-122"/>
                <a:cs typeface="Calibri" pitchFamily="34" charset="-120"/>
              </a:rPr>
              <a:t>An API key</a:t>
            </a:r>
            <a:endParaRPr lang="en-US" sz="1900" dirty="0"/>
          </a:p>
        </p:txBody>
      </p:sp>
      <p:sp>
        <p:nvSpPr>
          <p:cNvPr id="19" name="Text 17"/>
          <p:cNvSpPr txBox="1"/>
          <p:nvPr/>
        </p:nvSpPr>
        <p:spPr>
          <a:xfrm>
            <a:off x="8347253" y="2926080"/>
            <a:ext cx="2856890" cy="1188720"/>
          </a:xfrm>
          <a:prstGeom prst="rect">
            <a:avLst/>
          </a:prstGeom>
          <a:noFill/>
          <a:ln/>
        </p:spPr>
        <p:txBody>
          <a:bodyPr wrap="square" lIns="0" tIns="0" rIns="0" bIns="0" rtlCol="0" anchor="ctr"/>
          <a:lstStyle/>
          <a:p>
            <a:pPr indent="0" marL="0">
              <a:lnSpc>
                <a:spcPct val="114000"/>
              </a:lnSpc>
              <a:buNone/>
            </a:pPr>
            <a:r>
              <a:rPr lang="en-US" sz="1300" dirty="0">
                <a:solidFill>
                  <a:srgbClr val="5C6B80"/>
                </a:solidFill>
                <a:latin typeface="Calibri" pitchFamily="34" charset="0"/>
                <a:ea typeface="Calibri" pitchFamily="34" charset="-122"/>
                <a:cs typeface="Calibri" pitchFamily="34" charset="-120"/>
              </a:rPr>
              <a:t>No ANTHROPIC_API_KEY, no Console account, no second provider. Your subscription is the only credential involved.</a:t>
            </a:r>
            <a:endParaRPr lang="en-US" sz="1300" dirty="0"/>
          </a:p>
        </p:txBody>
      </p:sp>
      <p:sp>
        <p:nvSpPr>
          <p:cNvPr id="20" name="Shape 18"/>
          <p:cNvSpPr/>
          <p:nvPr/>
        </p:nvSpPr>
        <p:spPr>
          <a:xfrm>
            <a:off x="713232" y="4800600"/>
            <a:ext cx="45720" cy="868680"/>
          </a:xfrm>
          <a:prstGeom prst="rect">
            <a:avLst/>
          </a:prstGeom>
          <a:solidFill>
            <a:srgbClr val="2563EB"/>
          </a:solidFill>
          <a:ln w="12700">
            <a:solidFill>
              <a:srgbClr val="2563EB"/>
            </a:solidFill>
            <a:prstDash val="solid"/>
          </a:ln>
        </p:spPr>
      </p:sp>
      <p:sp>
        <p:nvSpPr>
          <p:cNvPr id="21" name="Shape 19"/>
          <p:cNvSpPr/>
          <p:nvPr/>
        </p:nvSpPr>
        <p:spPr>
          <a:xfrm>
            <a:off x="758952" y="4800600"/>
            <a:ext cx="10719511" cy="868680"/>
          </a:xfrm>
          <a:prstGeom prst="rect">
            <a:avLst/>
          </a:prstGeom>
          <a:solidFill>
            <a:srgbClr val="EFF5FF"/>
          </a:solidFill>
          <a:ln w="9525">
            <a:solidFill>
              <a:srgbClr val="D8E5FB"/>
            </a:solidFill>
            <a:prstDash val="solid"/>
          </a:ln>
        </p:spPr>
      </p:sp>
      <p:sp>
        <p:nvSpPr>
          <p:cNvPr id="22" name="Text 20"/>
          <p:cNvSpPr txBox="1"/>
          <p:nvPr/>
        </p:nvSpPr>
        <p:spPr>
          <a:xfrm>
            <a:off x="1033272" y="4956048"/>
            <a:ext cx="4572000" cy="219456"/>
          </a:xfrm>
          <a:prstGeom prst="rect">
            <a:avLst/>
          </a:prstGeom>
          <a:noFill/>
          <a:ln/>
        </p:spPr>
        <p:txBody>
          <a:bodyPr wrap="square" lIns="0" tIns="0" rIns="0" bIns="0" rtlCol="0" anchor="ctr"/>
          <a:lstStyle/>
          <a:p>
            <a:pPr indent="0" marL="0">
              <a:buNone/>
            </a:pPr>
            <a:r>
              <a:rPr lang="en-US" sz="950" spc="130" kern="0" dirty="0">
                <a:solidFill>
                  <a:srgbClr val="1E40AF"/>
                </a:solidFill>
                <a:latin typeface="Courier New" pitchFamily="34" charset="0"/>
                <a:ea typeface="Courier New" pitchFamily="34" charset="-122"/>
                <a:cs typeface="Courier New" pitchFamily="34" charset="-120"/>
              </a:rPr>
              <a:t>WHY IT MATTERS</a:t>
            </a:r>
            <a:endParaRPr lang="en-US" sz="950" dirty="0"/>
          </a:p>
        </p:txBody>
      </p:sp>
      <p:sp>
        <p:nvSpPr>
          <p:cNvPr id="23" name="Text 21"/>
          <p:cNvSpPr txBox="1"/>
          <p:nvPr/>
        </p:nvSpPr>
        <p:spPr>
          <a:xfrm>
            <a:off x="1033272" y="5184648"/>
            <a:ext cx="10033711" cy="457200"/>
          </a:xfrm>
          <a:prstGeom prst="rect">
            <a:avLst/>
          </a:prstGeom>
          <a:noFill/>
          <a:ln/>
        </p:spPr>
        <p:txBody>
          <a:bodyPr wrap="square" lIns="0" tIns="0" rIns="0" bIns="0" rtlCol="0" anchor="ctr"/>
          <a:lstStyle/>
          <a:p>
            <a:pPr indent="0" marL="0">
              <a:buNone/>
            </a:pPr>
            <a:r>
              <a:rPr lang="en-US" sz="1400" dirty="0">
                <a:solidFill>
                  <a:srgbClr val="243244"/>
                </a:solidFill>
                <a:latin typeface="Calibri" pitchFamily="34" charset="0"/>
                <a:ea typeface="Calibri" pitchFamily="34" charset="-122"/>
                <a:cs typeface="Calibri" pitchFamily="34" charset="-120"/>
              </a:rPr>
              <a:t>The app never talks to an API. It shells out to the Claude Code CLI you are signed into, one schema-validated call per job — so your plan is the only thing that gates it.</a:t>
            </a:r>
            <a:endParaRPr lang="en-US" sz="1400" dirty="0"/>
          </a:p>
        </p:txBody>
      </p:sp>
      <p:sp>
        <p:nvSpPr>
          <p:cNvPr id="24" name="Text 22"/>
          <p:cNvSpPr txBox="1"/>
          <p:nvPr/>
        </p:nvSpPr>
        <p:spPr>
          <a:xfrm>
            <a:off x="713232" y="6382512"/>
            <a:ext cx="6400800" cy="274320"/>
          </a:xfrm>
          <a:prstGeom prst="rect">
            <a:avLst/>
          </a:prstGeom>
          <a:noFill/>
          <a:ln/>
        </p:spPr>
        <p:txBody>
          <a:bodyPr wrap="square" lIns="0" tIns="0" rIns="0" bIns="0" rtlCol="0" anchor="ctr"/>
          <a:lstStyle/>
          <a:p>
            <a:pPr indent="0" marL="0">
              <a:buNone/>
            </a:pPr>
            <a:r>
              <a:rPr lang="en-US" sz="800" spc="120" kern="0" dirty="0">
                <a:solidFill>
                  <a:srgbClr val="8A97A8"/>
                </a:solidFill>
                <a:latin typeface="Courier New" pitchFamily="34" charset="0"/>
                <a:ea typeface="Courier New" pitchFamily="34" charset="-122"/>
                <a:cs typeface="Courier New" pitchFamily="34" charset="-120"/>
              </a:rPr>
              <a:t>AI PROCUREMENT ANALYST  ·  SETUP GUIDE</a:t>
            </a:r>
            <a:endParaRPr lang="en-US" sz="800" dirty="0"/>
          </a:p>
        </p:txBody>
      </p:sp>
      <p:sp>
        <p:nvSpPr>
          <p:cNvPr id="25" name="Text 23"/>
          <p:cNvSpPr txBox="1"/>
          <p:nvPr/>
        </p:nvSpPr>
        <p:spPr>
          <a:xfrm>
            <a:off x="9649663" y="6382512"/>
            <a:ext cx="1828800" cy="274320"/>
          </a:xfrm>
          <a:prstGeom prst="rect">
            <a:avLst/>
          </a:prstGeom>
          <a:noFill/>
          <a:ln/>
        </p:spPr>
        <p:txBody>
          <a:bodyPr wrap="square" lIns="0" tIns="0" rIns="0" bIns="0" rtlCol="0" anchor="ctr"/>
          <a:lstStyle/>
          <a:p>
            <a:pPr algn="r" indent="0" marL="0">
              <a:buNone/>
            </a:pPr>
            <a:r>
              <a:rPr lang="en-US" sz="800" b="1" spc="60" kern="0" dirty="0">
                <a:solidFill>
                  <a:srgbClr val="5C6B80"/>
                </a:solidFill>
                <a:latin typeface="Courier New" pitchFamily="34" charset="0"/>
                <a:ea typeface="Courier New" pitchFamily="34" charset="-122"/>
                <a:cs typeface="Courier New" pitchFamily="34" charset="-120"/>
              </a:rPr>
              <a:t>2 / 10</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457200"/>
            <a:ext cx="10765231" cy="237744"/>
          </a:xfrm>
          <a:prstGeom prst="rect">
            <a:avLst/>
          </a:prstGeom>
          <a:noFill/>
          <a:ln/>
        </p:spPr>
        <p:txBody>
          <a:bodyPr wrap="square" lIns="0" tIns="0" rIns="0" bIns="0" rtlCol="0" anchor="ctr"/>
          <a:lstStyle/>
          <a:p>
            <a:pPr indent="0" marL="0">
              <a:buNone/>
            </a:pPr>
            <a:r>
              <a:rPr lang="en-US" sz="950" spc="160" kern="0" dirty="0">
                <a:solidFill>
                  <a:srgbClr val="2563EB"/>
                </a:solidFill>
                <a:latin typeface="Courier New" pitchFamily="34" charset="0"/>
                <a:ea typeface="Courier New" pitchFamily="34" charset="-122"/>
                <a:cs typeface="Courier New" pitchFamily="34" charset="-120"/>
              </a:rPr>
              <a:t>STEP 1 OF 6</a:t>
            </a:r>
            <a:endParaRPr lang="en-US" sz="950" dirty="0"/>
          </a:p>
        </p:txBody>
      </p:sp>
      <p:sp>
        <p:nvSpPr>
          <p:cNvPr id="3" name="Text 1"/>
          <p:cNvSpPr txBox="1"/>
          <p:nvPr/>
        </p:nvSpPr>
        <p:spPr>
          <a:xfrm>
            <a:off x="713232" y="731520"/>
            <a:ext cx="10765231" cy="566928"/>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Install Claude Code</a:t>
            </a:r>
            <a:endParaRPr lang="en-US" sz="3000" dirty="0"/>
          </a:p>
        </p:txBody>
      </p:sp>
      <p:sp>
        <p:nvSpPr>
          <p:cNvPr id="4" name="Shape 2"/>
          <p:cNvSpPr/>
          <p:nvPr/>
        </p:nvSpPr>
        <p:spPr>
          <a:xfrm>
            <a:off x="713232" y="1389888"/>
            <a:ext cx="10765231" cy="10973"/>
          </a:xfrm>
          <a:prstGeom prst="rect">
            <a:avLst/>
          </a:prstGeom>
          <a:solidFill>
            <a:srgbClr val="DFE3EA"/>
          </a:solidFill>
          <a:ln w="12700">
            <a:solidFill>
              <a:srgbClr val="DFE3EA"/>
            </a:solidFill>
            <a:prstDash val="solid"/>
          </a:ln>
        </p:spPr>
      </p:sp>
      <p:sp>
        <p:nvSpPr>
          <p:cNvPr id="5" name="Shape 3"/>
          <p:cNvSpPr/>
          <p:nvPr/>
        </p:nvSpPr>
        <p:spPr>
          <a:xfrm>
            <a:off x="713232" y="1801368"/>
            <a:ext cx="384048" cy="274320"/>
          </a:xfrm>
          <a:prstGeom prst="roundRect">
            <a:avLst>
              <a:gd name="adj" fmla="val 16667"/>
            </a:avLst>
          </a:prstGeom>
          <a:solidFill>
            <a:srgbClr val="2563EB"/>
          </a:solidFill>
          <a:ln w="12700">
            <a:solidFill>
              <a:srgbClr val="2563EB"/>
            </a:solidFill>
            <a:prstDash val="solid"/>
          </a:ln>
        </p:spPr>
      </p:sp>
      <p:sp>
        <p:nvSpPr>
          <p:cNvPr id="6" name="Text 4"/>
          <p:cNvSpPr txBox="1"/>
          <p:nvPr/>
        </p:nvSpPr>
        <p:spPr>
          <a:xfrm>
            <a:off x="713232" y="1801368"/>
            <a:ext cx="384048"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01</a:t>
            </a:r>
            <a:endParaRPr lang="en-US" sz="1200" dirty="0"/>
          </a:p>
        </p:txBody>
      </p:sp>
      <p:sp>
        <p:nvSpPr>
          <p:cNvPr id="7" name="Text 5"/>
          <p:cNvSpPr txBox="1"/>
          <p:nvPr/>
        </p:nvSpPr>
        <p:spPr>
          <a:xfrm>
            <a:off x="1243584" y="1783080"/>
            <a:ext cx="10234879" cy="310896"/>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One command installs a self-updating native binary</a:t>
            </a:r>
            <a:endParaRPr lang="en-US" sz="1800" dirty="0"/>
          </a:p>
        </p:txBody>
      </p:sp>
      <p:sp>
        <p:nvSpPr>
          <p:cNvPr id="8" name="Shape 6"/>
          <p:cNvSpPr/>
          <p:nvPr/>
        </p:nvSpPr>
        <p:spPr>
          <a:xfrm>
            <a:off x="713232" y="2286000"/>
            <a:ext cx="6766560" cy="1613916"/>
          </a:xfrm>
          <a:prstGeom prst="roundRect">
            <a:avLst>
              <a:gd name="adj" fmla="val 2266"/>
            </a:avLst>
          </a:prstGeom>
          <a:solidFill>
            <a:srgbClr val="111C2E"/>
          </a:solidFill>
          <a:ln w="12700">
            <a:solidFill>
              <a:srgbClr val="111C2E"/>
            </a:solidFill>
            <a:prstDash val="solid"/>
          </a:ln>
        </p:spPr>
      </p:sp>
      <p:sp>
        <p:nvSpPr>
          <p:cNvPr id="9" name="Text 7"/>
          <p:cNvSpPr txBox="1"/>
          <p:nvPr/>
        </p:nvSpPr>
        <p:spPr>
          <a:xfrm>
            <a:off x="914400" y="2432304"/>
            <a:ext cx="6364224" cy="1321308"/>
          </a:xfrm>
          <a:prstGeom prst="rect">
            <a:avLst/>
          </a:prstGeom>
          <a:noFill/>
          <a:ln/>
        </p:spPr>
        <p:txBody>
          <a:bodyPr wrap="square" lIns="0" tIns="0" rIns="0" bIns="0" rtlCol="0" anchor="t"/>
          <a:lstStyle/>
          <a:p>
            <a:pPr indent="0" marL="0">
              <a:lnSpc>
                <a:spcPct val="108000"/>
              </a:lnSpc>
              <a:buNone/>
            </a:pPr>
            <a:r>
              <a:rPr lang="en-US" sz="1300" dirty="0">
                <a:solidFill>
                  <a:srgbClr val="8FA3BF"/>
                </a:solidFill>
                <a:latin typeface="Courier New" pitchFamily="34" charset="0"/>
                <a:ea typeface="Courier New" pitchFamily="34" charset="-122"/>
                <a:cs typeface="Courier New" pitchFamily="34" charset="-120"/>
              </a:rPr>
              <a:t># macOS, Linux, WSL</a:t>
            </a:r>
            <a:endParaRPr lang="en-US" sz="1300" dirty="0"/>
          </a:p>
          <a:p>
            <a:pPr indent="0" marL="0">
              <a:lnSpc>
                <a:spcPct val="108000"/>
              </a:lnSpc>
              <a:buNone/>
            </a:pPr>
            <a:r>
              <a:rPr lang="en-US" sz="1300" dirty="0">
                <a:solidFill>
                  <a:srgbClr val="E6EBF3"/>
                </a:solidFill>
                <a:latin typeface="Courier New" pitchFamily="34" charset="0"/>
                <a:ea typeface="Courier New" pitchFamily="34" charset="-122"/>
                <a:cs typeface="Courier New" pitchFamily="34" charset="-120"/>
              </a:rPr>
              <a:t>curl -fsSL https://claude.ai/install.sh | bash</a:t>
            </a:r>
            <a:endParaRPr lang="en-US" sz="1300" dirty="0"/>
          </a:p>
          <a:p>
            <a:pPr indent="0" marL="0">
              <a:lnSpc>
                <a:spcPct val="108000"/>
              </a:lnSpc>
              <a:buNone/>
            </a:pPr>
            <a:r>
              <a:rPr lang="en-US" sz="1300" dirty="0">
                <a:solidFill>
                  <a:srgbClr val="E6EBF3"/>
                </a:solidFill>
                <a:latin typeface="Courier New" pitchFamily="34" charset="0"/>
                <a:ea typeface="Courier New" pitchFamily="34" charset="-122"/>
                <a:cs typeface="Courier New" pitchFamily="34" charset="-120"/>
              </a:rPr>
              <a:t> </a:t>
            </a:r>
            <a:endParaRPr lang="en-US" sz="1300" dirty="0"/>
          </a:p>
          <a:p>
            <a:pPr indent="0" marL="0">
              <a:lnSpc>
                <a:spcPct val="108000"/>
              </a:lnSpc>
              <a:buNone/>
            </a:pPr>
            <a:r>
              <a:rPr lang="en-US" sz="1300" dirty="0">
                <a:solidFill>
                  <a:srgbClr val="8FA3BF"/>
                </a:solidFill>
                <a:latin typeface="Courier New" pitchFamily="34" charset="0"/>
                <a:ea typeface="Courier New" pitchFamily="34" charset="-122"/>
                <a:cs typeface="Courier New" pitchFamily="34" charset="-120"/>
              </a:rPr>
              <a:t># Windows PowerShell</a:t>
            </a:r>
            <a:endParaRPr lang="en-US" sz="1300" dirty="0"/>
          </a:p>
          <a:p>
            <a:pPr indent="0" marL="0">
              <a:lnSpc>
                <a:spcPct val="108000"/>
              </a:lnSpc>
              <a:buNone/>
            </a:pPr>
            <a:r>
              <a:rPr lang="en-US" sz="1300" dirty="0">
                <a:solidFill>
                  <a:srgbClr val="E6EBF3"/>
                </a:solidFill>
                <a:latin typeface="Courier New" pitchFamily="34" charset="0"/>
                <a:ea typeface="Courier New" pitchFamily="34" charset="-122"/>
                <a:cs typeface="Courier New" pitchFamily="34" charset="-120"/>
              </a:rPr>
              <a:t>irm https://claude.ai/install.ps1 | iex</a:t>
            </a:r>
            <a:endParaRPr lang="en-US" sz="1300" dirty="0"/>
          </a:p>
        </p:txBody>
      </p:sp>
      <p:sp>
        <p:nvSpPr>
          <p:cNvPr id="10" name="Shape 8"/>
          <p:cNvSpPr/>
          <p:nvPr/>
        </p:nvSpPr>
        <p:spPr>
          <a:xfrm>
            <a:off x="7772400" y="2286000"/>
            <a:ext cx="3703320" cy="2011680"/>
          </a:xfrm>
          <a:prstGeom prst="rect">
            <a:avLst/>
          </a:prstGeom>
          <a:solidFill>
            <a:srgbClr val="F6F7F9"/>
          </a:solidFill>
          <a:ln w="9525">
            <a:solidFill>
              <a:srgbClr val="DFE3EA"/>
            </a:solidFill>
            <a:prstDash val="solid"/>
          </a:ln>
        </p:spPr>
      </p:sp>
      <p:sp>
        <p:nvSpPr>
          <p:cNvPr id="11" name="Text 9"/>
          <p:cNvSpPr txBox="1"/>
          <p:nvPr/>
        </p:nvSpPr>
        <p:spPr>
          <a:xfrm>
            <a:off x="8046720" y="2468880"/>
            <a:ext cx="3200400" cy="219456"/>
          </a:xfrm>
          <a:prstGeom prst="rect">
            <a:avLst/>
          </a:prstGeom>
          <a:noFill/>
          <a:ln/>
        </p:spPr>
        <p:txBody>
          <a:bodyPr wrap="square" lIns="0" tIns="0" rIns="0" bIns="0" rtlCol="0" anchor="ctr"/>
          <a:lstStyle/>
          <a:p>
            <a:pPr indent="0" marL="0">
              <a:buNone/>
            </a:pPr>
            <a:r>
              <a:rPr lang="en-US" sz="950" spc="130" kern="0" dirty="0">
                <a:solidFill>
                  <a:srgbClr val="8A97A8"/>
                </a:solidFill>
                <a:latin typeface="Courier New" pitchFamily="34" charset="0"/>
                <a:ea typeface="Courier New" pitchFamily="34" charset="-122"/>
                <a:cs typeface="Courier New" pitchFamily="34" charset="-120"/>
              </a:rPr>
              <a:t>ALTERNATIVES</a:t>
            </a:r>
            <a:endParaRPr lang="en-US" sz="950" dirty="0"/>
          </a:p>
        </p:txBody>
      </p:sp>
      <p:sp>
        <p:nvSpPr>
          <p:cNvPr id="12" name="Text 10"/>
          <p:cNvSpPr txBox="1"/>
          <p:nvPr/>
        </p:nvSpPr>
        <p:spPr>
          <a:xfrm>
            <a:off x="8046720" y="2724912"/>
            <a:ext cx="3200400" cy="1463040"/>
          </a:xfrm>
          <a:prstGeom prst="rect">
            <a:avLst/>
          </a:prstGeom>
          <a:noFill/>
          <a:ln/>
        </p:spPr>
        <p:txBody>
          <a:bodyPr wrap="square" lIns="0" tIns="0" rIns="0" bIns="0" rtlCol="0" anchor="ctr"/>
          <a:lstStyle/>
          <a:p>
            <a:pPr indent="0" marL="0">
              <a:lnSpc>
                <a:spcPct val="112000"/>
              </a:lnSpc>
              <a:buNone/>
            </a:pPr>
            <a:r>
              <a:rPr lang="en-US" sz="1200" dirty="0">
                <a:solidFill>
                  <a:srgbClr val="0F172A"/>
                </a:solidFill>
                <a:latin typeface="Courier New" pitchFamily="34" charset="0"/>
                <a:ea typeface="Courier New" pitchFamily="34" charset="-122"/>
                <a:cs typeface="Courier New" pitchFamily="34" charset="-120"/>
              </a:rPr>
              <a:t>brew install --cask claude-code</a:t>
            </a:r>
            <a:endParaRPr lang="en-US" sz="1200" dirty="0"/>
          </a:p>
          <a:p>
            <a:pPr indent="0" marL="0">
              <a:lnSpc>
                <a:spcPct val="112000"/>
              </a:lnSpc>
              <a:buNone/>
            </a:pPr>
            <a:r>
              <a:rPr lang="en-US" sz="1300" dirty="0">
                <a:solidFill>
                  <a:srgbClr val="5C6B80"/>
                </a:solidFill>
                <a:latin typeface="Calibri" pitchFamily="34" charset="0"/>
                <a:ea typeface="Calibri" pitchFamily="34" charset="-122"/>
                <a:cs typeface="Calibri" pitchFamily="34" charset="-120"/>
              </a:rPr>
              <a:t>on macOS, or</a:t>
            </a:r>
            <a:endParaRPr lang="en-US" sz="1200" dirty="0"/>
          </a:p>
          <a:p>
            <a:pPr indent="0" marL="0">
              <a:lnSpc>
                <a:spcPct val="112000"/>
              </a:lnSpc>
              <a:buNone/>
            </a:pPr>
            <a:r>
              <a:rPr lang="en-US" sz="1200" dirty="0">
                <a:solidFill>
                  <a:srgbClr val="0F172A"/>
                </a:solidFill>
                <a:latin typeface="Courier New" pitchFamily="34" charset="0"/>
                <a:ea typeface="Courier New" pitchFamily="34" charset="-122"/>
                <a:cs typeface="Courier New" pitchFamily="34" charset="-120"/>
              </a:rPr>
              <a:t>npm install -g @anthropic-ai/claude-code</a:t>
            </a:r>
            <a:endParaRPr lang="en-US" sz="1200" dirty="0"/>
          </a:p>
          <a:p>
            <a:pPr indent="0" marL="0">
              <a:lnSpc>
                <a:spcPct val="112000"/>
              </a:lnSpc>
              <a:buNone/>
            </a:pPr>
            <a:r>
              <a:rPr lang="en-US" sz="1300" dirty="0">
                <a:solidFill>
                  <a:srgbClr val="5C6B80"/>
                </a:solidFill>
                <a:latin typeface="Calibri" pitchFamily="34" charset="0"/>
                <a:ea typeface="Calibri" pitchFamily="34" charset="-122"/>
                <a:cs typeface="Calibri" pitchFamily="34" charset="-120"/>
              </a:rPr>
              <a:t>with Node.js 22 or later.</a:t>
            </a:r>
            <a:endParaRPr lang="en-US" sz="1200" dirty="0"/>
          </a:p>
        </p:txBody>
      </p:sp>
      <p:sp>
        <p:nvSpPr>
          <p:cNvPr id="13" name="Text 11"/>
          <p:cNvSpPr txBox="1"/>
          <p:nvPr/>
        </p:nvSpPr>
        <p:spPr>
          <a:xfrm>
            <a:off x="713232" y="4572000"/>
            <a:ext cx="10765231" cy="731520"/>
          </a:xfrm>
          <a:prstGeom prst="rect">
            <a:avLst/>
          </a:prstGeom>
          <a:noFill/>
          <a:ln/>
        </p:spPr>
        <p:txBody>
          <a:bodyPr wrap="square" lIns="0" tIns="0" rIns="0" bIns="0" rtlCol="0" anchor="ctr"/>
          <a:lstStyle/>
          <a:p>
            <a:pPr indent="0" marL="0">
              <a:lnSpc>
                <a:spcPct val="115000"/>
              </a:lnSpc>
              <a:buNone/>
            </a:pPr>
            <a:r>
              <a:rPr lang="en-US" sz="1500" b="1" dirty="0">
                <a:solidFill>
                  <a:srgbClr val="0F172A"/>
                </a:solidFill>
                <a:latin typeface="Calibri" pitchFamily="34" charset="0"/>
                <a:ea typeface="Calibri" pitchFamily="34" charset="-122"/>
                <a:cs typeface="Calibri" pitchFamily="34" charset="-120"/>
              </a:rPr>
              <a:t>Confirm it worked.  </a:t>
            </a:r>
            <a:pPr indent="0" marL="0">
              <a:lnSpc>
                <a:spcPct val="115000"/>
              </a:lnSpc>
              <a:buNone/>
            </a:pPr>
            <a:r>
              <a:rPr lang="en-US" sz="1400" dirty="0">
                <a:solidFill>
                  <a:srgbClr val="2563EB"/>
                </a:solidFill>
                <a:latin typeface="Courier New" pitchFamily="34" charset="0"/>
                <a:ea typeface="Courier New" pitchFamily="34" charset="-122"/>
                <a:cs typeface="Courier New" pitchFamily="34" charset="-120"/>
              </a:rPr>
              <a:t>claude --version</a:t>
            </a:r>
            <a:pPr indent="0" marL="0">
              <a:lnSpc>
                <a:spcPct val="115000"/>
              </a:lnSpc>
              <a:buNone/>
            </a:pPr>
            <a:r>
              <a:rPr lang="en-US" sz="1500" dirty="0">
                <a:solidFill>
                  <a:srgbClr val="5C6B80"/>
                </a:solidFill>
                <a:latin typeface="Calibri" pitchFamily="34" charset="0"/>
                <a:ea typeface="Calibri" pitchFamily="34" charset="-122"/>
                <a:cs typeface="Calibri" pitchFamily="34" charset="-120"/>
              </a:rPr>
              <a:t>  prints a version number.  </a:t>
            </a:r>
            <a:pPr indent="0" marL="0">
              <a:lnSpc>
                <a:spcPct val="115000"/>
              </a:lnSpc>
              <a:buNone/>
            </a:pPr>
            <a:r>
              <a:rPr lang="en-US" sz="1400" dirty="0">
                <a:solidFill>
                  <a:srgbClr val="2563EB"/>
                </a:solidFill>
                <a:latin typeface="Courier New" pitchFamily="34" charset="0"/>
                <a:ea typeface="Courier New" pitchFamily="34" charset="-122"/>
                <a:cs typeface="Courier New" pitchFamily="34" charset="-120"/>
              </a:rPr>
              <a:t>claude doctor</a:t>
            </a:r>
            <a:pPr indent="0" marL="0">
              <a:lnSpc>
                <a:spcPct val="115000"/>
              </a:lnSpc>
              <a:buNone/>
            </a:pPr>
            <a:r>
              <a:rPr lang="en-US" sz="1500" dirty="0">
                <a:solidFill>
                  <a:srgbClr val="5C6B80"/>
                </a:solidFill>
                <a:latin typeface="Calibri" pitchFamily="34" charset="0"/>
                <a:ea typeface="Calibri" pitchFamily="34" charset="-122"/>
                <a:cs typeface="Calibri" pitchFamily="34" charset="-120"/>
              </a:rPr>
              <a:t>  prints full installation diagnostics without starting a session.</a:t>
            </a:r>
            <a:endParaRPr lang="en-US" sz="1500" dirty="0"/>
          </a:p>
        </p:txBody>
      </p:sp>
      <p:sp>
        <p:nvSpPr>
          <p:cNvPr id="14" name="Text 12"/>
          <p:cNvSpPr txBox="1"/>
          <p:nvPr/>
        </p:nvSpPr>
        <p:spPr>
          <a:xfrm>
            <a:off x="713232" y="6382512"/>
            <a:ext cx="6400800" cy="274320"/>
          </a:xfrm>
          <a:prstGeom prst="rect">
            <a:avLst/>
          </a:prstGeom>
          <a:noFill/>
          <a:ln/>
        </p:spPr>
        <p:txBody>
          <a:bodyPr wrap="square" lIns="0" tIns="0" rIns="0" bIns="0" rtlCol="0" anchor="ctr"/>
          <a:lstStyle/>
          <a:p>
            <a:pPr indent="0" marL="0">
              <a:buNone/>
            </a:pPr>
            <a:r>
              <a:rPr lang="en-US" sz="800" spc="120" kern="0" dirty="0">
                <a:solidFill>
                  <a:srgbClr val="8A97A8"/>
                </a:solidFill>
                <a:latin typeface="Courier New" pitchFamily="34" charset="0"/>
                <a:ea typeface="Courier New" pitchFamily="34" charset="-122"/>
                <a:cs typeface="Courier New" pitchFamily="34" charset="-120"/>
              </a:rPr>
              <a:t>AI PROCUREMENT ANALYST  ·  SETUP GUIDE</a:t>
            </a:r>
            <a:endParaRPr lang="en-US" sz="800" dirty="0"/>
          </a:p>
        </p:txBody>
      </p:sp>
      <p:sp>
        <p:nvSpPr>
          <p:cNvPr id="15" name="Text 13"/>
          <p:cNvSpPr txBox="1"/>
          <p:nvPr/>
        </p:nvSpPr>
        <p:spPr>
          <a:xfrm>
            <a:off x="9649663" y="6382512"/>
            <a:ext cx="1828800" cy="274320"/>
          </a:xfrm>
          <a:prstGeom prst="rect">
            <a:avLst/>
          </a:prstGeom>
          <a:noFill/>
          <a:ln/>
        </p:spPr>
        <p:txBody>
          <a:bodyPr wrap="square" lIns="0" tIns="0" rIns="0" bIns="0" rtlCol="0" anchor="ctr"/>
          <a:lstStyle/>
          <a:p>
            <a:pPr algn="r" indent="0" marL="0">
              <a:buNone/>
            </a:pPr>
            <a:r>
              <a:rPr lang="en-US" sz="800" b="1" spc="60" kern="0" dirty="0">
                <a:solidFill>
                  <a:srgbClr val="5C6B80"/>
                </a:solidFill>
                <a:latin typeface="Courier New" pitchFamily="34" charset="0"/>
                <a:ea typeface="Courier New" pitchFamily="34" charset="-122"/>
                <a:cs typeface="Courier New" pitchFamily="34" charset="-120"/>
              </a:rPr>
              <a:t>3 / 10</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457200"/>
            <a:ext cx="10765231" cy="237744"/>
          </a:xfrm>
          <a:prstGeom prst="rect">
            <a:avLst/>
          </a:prstGeom>
          <a:noFill/>
          <a:ln/>
        </p:spPr>
        <p:txBody>
          <a:bodyPr wrap="square" lIns="0" tIns="0" rIns="0" bIns="0" rtlCol="0" anchor="ctr"/>
          <a:lstStyle/>
          <a:p>
            <a:pPr indent="0" marL="0">
              <a:buNone/>
            </a:pPr>
            <a:r>
              <a:rPr lang="en-US" sz="950" spc="160" kern="0" dirty="0">
                <a:solidFill>
                  <a:srgbClr val="2563EB"/>
                </a:solidFill>
                <a:latin typeface="Courier New" pitchFamily="34" charset="0"/>
                <a:ea typeface="Courier New" pitchFamily="34" charset="-122"/>
                <a:cs typeface="Courier New" pitchFamily="34" charset="-120"/>
              </a:rPr>
              <a:t>STEP 2 OF 6</a:t>
            </a:r>
            <a:endParaRPr lang="en-US" sz="950" dirty="0"/>
          </a:p>
        </p:txBody>
      </p:sp>
      <p:sp>
        <p:nvSpPr>
          <p:cNvPr id="3" name="Text 1"/>
          <p:cNvSpPr txBox="1"/>
          <p:nvPr/>
        </p:nvSpPr>
        <p:spPr>
          <a:xfrm>
            <a:off x="713232" y="731520"/>
            <a:ext cx="10765231" cy="566928"/>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Sign in with your Claude account</a:t>
            </a:r>
            <a:endParaRPr lang="en-US" sz="3000" dirty="0"/>
          </a:p>
        </p:txBody>
      </p:sp>
      <p:sp>
        <p:nvSpPr>
          <p:cNvPr id="4" name="Shape 2"/>
          <p:cNvSpPr/>
          <p:nvPr/>
        </p:nvSpPr>
        <p:spPr>
          <a:xfrm>
            <a:off x="713232" y="1389888"/>
            <a:ext cx="10765231" cy="10973"/>
          </a:xfrm>
          <a:prstGeom prst="rect">
            <a:avLst/>
          </a:prstGeom>
          <a:solidFill>
            <a:srgbClr val="DFE3EA"/>
          </a:solidFill>
          <a:ln w="12700">
            <a:solidFill>
              <a:srgbClr val="DFE3EA"/>
            </a:solidFill>
            <a:prstDash val="solid"/>
          </a:ln>
        </p:spPr>
      </p:sp>
      <p:sp>
        <p:nvSpPr>
          <p:cNvPr id="5" name="Shape 3"/>
          <p:cNvSpPr/>
          <p:nvPr/>
        </p:nvSpPr>
        <p:spPr>
          <a:xfrm>
            <a:off x="713232" y="1801368"/>
            <a:ext cx="384048" cy="274320"/>
          </a:xfrm>
          <a:prstGeom prst="roundRect">
            <a:avLst>
              <a:gd name="adj" fmla="val 16667"/>
            </a:avLst>
          </a:prstGeom>
          <a:solidFill>
            <a:srgbClr val="2563EB"/>
          </a:solidFill>
          <a:ln w="12700">
            <a:solidFill>
              <a:srgbClr val="2563EB"/>
            </a:solidFill>
            <a:prstDash val="solid"/>
          </a:ln>
        </p:spPr>
      </p:sp>
      <p:sp>
        <p:nvSpPr>
          <p:cNvPr id="6" name="Text 4"/>
          <p:cNvSpPr txBox="1"/>
          <p:nvPr/>
        </p:nvSpPr>
        <p:spPr>
          <a:xfrm>
            <a:off x="713232" y="1801368"/>
            <a:ext cx="384048"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02</a:t>
            </a:r>
            <a:endParaRPr lang="en-US" sz="1200" dirty="0"/>
          </a:p>
        </p:txBody>
      </p:sp>
      <p:sp>
        <p:nvSpPr>
          <p:cNvPr id="7" name="Text 5"/>
          <p:cNvSpPr txBox="1"/>
          <p:nvPr/>
        </p:nvSpPr>
        <p:spPr>
          <a:xfrm>
            <a:off x="1243584" y="1783080"/>
            <a:ext cx="10234879" cy="310896"/>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Run claude in any folder — it opens a browser on first launch</a:t>
            </a:r>
            <a:endParaRPr lang="en-US" sz="1800" dirty="0"/>
          </a:p>
        </p:txBody>
      </p:sp>
      <p:sp>
        <p:nvSpPr>
          <p:cNvPr id="8" name="Shape 6"/>
          <p:cNvSpPr/>
          <p:nvPr/>
        </p:nvSpPr>
        <p:spPr>
          <a:xfrm>
            <a:off x="713232" y="2286000"/>
            <a:ext cx="6766560" cy="1353312"/>
          </a:xfrm>
          <a:prstGeom prst="roundRect">
            <a:avLst>
              <a:gd name="adj" fmla="val 2703"/>
            </a:avLst>
          </a:prstGeom>
          <a:solidFill>
            <a:srgbClr val="111C2E"/>
          </a:solidFill>
          <a:ln w="12700">
            <a:solidFill>
              <a:srgbClr val="111C2E"/>
            </a:solidFill>
            <a:prstDash val="solid"/>
          </a:ln>
        </p:spPr>
      </p:sp>
      <p:sp>
        <p:nvSpPr>
          <p:cNvPr id="9" name="Text 7"/>
          <p:cNvSpPr txBox="1"/>
          <p:nvPr/>
        </p:nvSpPr>
        <p:spPr>
          <a:xfrm>
            <a:off x="914400" y="2432304"/>
            <a:ext cx="6364224" cy="1060704"/>
          </a:xfrm>
          <a:prstGeom prst="rect">
            <a:avLst/>
          </a:prstGeom>
          <a:noFill/>
          <a:ln/>
        </p:spPr>
        <p:txBody>
          <a:bodyPr wrap="square" lIns="0" tIns="0" rIns="0" bIns="0" rtlCol="0" anchor="t"/>
          <a:lstStyle/>
          <a:p>
            <a:pPr indent="0" marL="0">
              <a:lnSpc>
                <a:spcPct val="108000"/>
              </a:lnSpc>
              <a:buNone/>
            </a:pPr>
            <a:r>
              <a:rPr lang="en-US" sz="1300" dirty="0">
                <a:solidFill>
                  <a:srgbClr val="E6EBF3"/>
                </a:solidFill>
                <a:latin typeface="Courier New" pitchFamily="34" charset="0"/>
                <a:ea typeface="Courier New" pitchFamily="34" charset="-122"/>
                <a:cs typeface="Courier New" pitchFamily="34" charset="-120"/>
              </a:rPr>
              <a:t>claude</a:t>
            </a:r>
            <a:endParaRPr lang="en-US" sz="1300" dirty="0"/>
          </a:p>
          <a:p>
            <a:pPr indent="0" marL="0">
              <a:lnSpc>
                <a:spcPct val="108000"/>
              </a:lnSpc>
              <a:buNone/>
            </a:pPr>
            <a:r>
              <a:rPr lang="en-US" sz="1300" dirty="0">
                <a:solidFill>
                  <a:srgbClr val="8FA3BF"/>
                </a:solidFill>
                <a:latin typeface="Courier New" pitchFamily="34" charset="0"/>
                <a:ea typeface="Courier New" pitchFamily="34" charset="-122"/>
                <a:cs typeface="Courier New" pitchFamily="34" charset="-120"/>
              </a:rPr>
              <a:t># then, inside Claude Code:</a:t>
            </a:r>
            <a:endParaRPr lang="en-US" sz="1300" dirty="0"/>
          </a:p>
          <a:p>
            <a:pPr indent="0" marL="0">
              <a:lnSpc>
                <a:spcPct val="108000"/>
              </a:lnSpc>
              <a:buNone/>
            </a:pPr>
            <a:r>
              <a:rPr lang="en-US" sz="1300" dirty="0">
                <a:solidFill>
                  <a:srgbClr val="E6EBF3"/>
                </a:solidFill>
                <a:latin typeface="Courier New" pitchFamily="34" charset="0"/>
                <a:ea typeface="Courier New" pitchFamily="34" charset="-122"/>
                <a:cs typeface="Courier New" pitchFamily="34" charset="-120"/>
              </a:rPr>
              <a:t>/status   # confirms the account and plan in use</a:t>
            </a:r>
            <a:endParaRPr lang="en-US" sz="1300" dirty="0"/>
          </a:p>
          <a:p>
            <a:pPr indent="0" marL="0">
              <a:lnSpc>
                <a:spcPct val="108000"/>
              </a:lnSpc>
              <a:buNone/>
            </a:pPr>
            <a:r>
              <a:rPr lang="en-US" sz="1300" dirty="0">
                <a:solidFill>
                  <a:srgbClr val="E6EBF3"/>
                </a:solidFill>
                <a:latin typeface="Courier New" pitchFamily="34" charset="0"/>
                <a:ea typeface="Courier New" pitchFamily="34" charset="-122"/>
                <a:cs typeface="Courier New" pitchFamily="34" charset="-120"/>
              </a:rPr>
              <a:t>/login    # sign in again, or switch account</a:t>
            </a:r>
            <a:endParaRPr lang="en-US" sz="1300" dirty="0"/>
          </a:p>
        </p:txBody>
      </p:sp>
      <p:sp>
        <p:nvSpPr>
          <p:cNvPr id="10" name="Shape 8"/>
          <p:cNvSpPr/>
          <p:nvPr/>
        </p:nvSpPr>
        <p:spPr>
          <a:xfrm>
            <a:off x="7772400" y="2286000"/>
            <a:ext cx="3703320" cy="1545336"/>
          </a:xfrm>
          <a:prstGeom prst="rect">
            <a:avLst/>
          </a:prstGeom>
          <a:solidFill>
            <a:srgbClr val="F6F7F9"/>
          </a:solidFill>
          <a:ln w="9525">
            <a:solidFill>
              <a:srgbClr val="DFE3EA"/>
            </a:solidFill>
            <a:prstDash val="solid"/>
          </a:ln>
        </p:spPr>
      </p:sp>
      <p:sp>
        <p:nvSpPr>
          <p:cNvPr id="11" name="Text 9"/>
          <p:cNvSpPr txBox="1"/>
          <p:nvPr/>
        </p:nvSpPr>
        <p:spPr>
          <a:xfrm>
            <a:off x="8046720" y="2468880"/>
            <a:ext cx="3291840" cy="219456"/>
          </a:xfrm>
          <a:prstGeom prst="rect">
            <a:avLst/>
          </a:prstGeom>
          <a:noFill/>
          <a:ln/>
        </p:spPr>
        <p:txBody>
          <a:bodyPr wrap="square" lIns="0" tIns="0" rIns="0" bIns="0" rtlCol="0" anchor="ctr"/>
          <a:lstStyle/>
          <a:p>
            <a:pPr indent="0" marL="0">
              <a:buNone/>
            </a:pPr>
            <a:r>
              <a:rPr lang="en-US" sz="950" spc="110" kern="0" dirty="0">
                <a:solidFill>
                  <a:srgbClr val="8A97A8"/>
                </a:solidFill>
                <a:latin typeface="Courier New" pitchFamily="34" charset="0"/>
                <a:ea typeface="Courier New" pitchFamily="34" charset="-122"/>
                <a:cs typeface="Courier New" pitchFamily="34" charset="-120"/>
              </a:rPr>
              <a:t>IF THE BROWSER DOESN'T OPEN</a:t>
            </a:r>
            <a:endParaRPr lang="en-US" sz="950" dirty="0"/>
          </a:p>
        </p:txBody>
      </p:sp>
      <p:sp>
        <p:nvSpPr>
          <p:cNvPr id="12" name="Text 10"/>
          <p:cNvSpPr txBox="1"/>
          <p:nvPr/>
        </p:nvSpPr>
        <p:spPr>
          <a:xfrm>
            <a:off x="8046720" y="2724912"/>
            <a:ext cx="3200400" cy="1005840"/>
          </a:xfrm>
          <a:prstGeom prst="rect">
            <a:avLst/>
          </a:prstGeom>
          <a:noFill/>
          <a:ln/>
        </p:spPr>
        <p:txBody>
          <a:bodyPr wrap="square" lIns="0" tIns="0" rIns="0" bIns="0" rtlCol="0" anchor="ctr"/>
          <a:lstStyle/>
          <a:p>
            <a:pPr indent="0" marL="0">
              <a:lnSpc>
                <a:spcPct val="114000"/>
              </a:lnSpc>
              <a:buNone/>
            </a:pPr>
            <a:r>
              <a:rPr lang="en-US" sz="1300" dirty="0">
                <a:solidFill>
                  <a:srgbClr val="5C6B80"/>
                </a:solidFill>
                <a:latin typeface="Calibri" pitchFamily="34" charset="0"/>
                <a:ea typeface="Calibri" pitchFamily="34" charset="-122"/>
                <a:cs typeface="Calibri" pitchFamily="34" charset="-120"/>
              </a:rPr>
              <a:t>Press c to copy the login URL, then paste the code back into the terminal. Common over SSH and in WSL.</a:t>
            </a:r>
            <a:endParaRPr lang="en-US" sz="1300" dirty="0"/>
          </a:p>
        </p:txBody>
      </p:sp>
      <p:sp>
        <p:nvSpPr>
          <p:cNvPr id="13" name="Text 11"/>
          <p:cNvSpPr txBox="1"/>
          <p:nvPr/>
        </p:nvSpPr>
        <p:spPr>
          <a:xfrm>
            <a:off x="713232" y="4160520"/>
            <a:ext cx="5486400" cy="219456"/>
          </a:xfrm>
          <a:prstGeom prst="rect">
            <a:avLst/>
          </a:prstGeom>
          <a:noFill/>
          <a:ln/>
        </p:spPr>
        <p:txBody>
          <a:bodyPr wrap="square" lIns="0" tIns="0" rIns="0" bIns="0" rtlCol="0" anchor="ctr"/>
          <a:lstStyle/>
          <a:p>
            <a:pPr indent="0" marL="0">
              <a:buNone/>
            </a:pPr>
            <a:r>
              <a:rPr lang="en-US" sz="950" spc="130" kern="0" dirty="0">
                <a:solidFill>
                  <a:srgbClr val="8A97A8"/>
                </a:solidFill>
                <a:latin typeface="Courier New" pitchFamily="34" charset="0"/>
                <a:ea typeface="Courier New" pitchFamily="34" charset="-122"/>
                <a:cs typeface="Courier New" pitchFamily="34" charset="-120"/>
              </a:rPr>
              <a:t>HOW IT REACHES CLAUDE</a:t>
            </a:r>
            <a:endParaRPr lang="en-US" sz="950" dirty="0"/>
          </a:p>
        </p:txBody>
      </p:sp>
      <p:sp>
        <p:nvSpPr>
          <p:cNvPr id="14" name="Shape 12"/>
          <p:cNvSpPr/>
          <p:nvPr/>
        </p:nvSpPr>
        <p:spPr>
          <a:xfrm>
            <a:off x="713232" y="4434840"/>
            <a:ext cx="3253130" cy="1097280"/>
          </a:xfrm>
          <a:prstGeom prst="rect">
            <a:avLst/>
          </a:prstGeom>
          <a:solidFill>
            <a:srgbClr val="FFFFFF"/>
          </a:solidFill>
          <a:ln w="9525">
            <a:solidFill>
              <a:srgbClr val="DFE3EA"/>
            </a:solidFill>
            <a:prstDash val="solid"/>
          </a:ln>
        </p:spPr>
      </p:sp>
      <p:sp>
        <p:nvSpPr>
          <p:cNvPr id="15" name="Text 13"/>
          <p:cNvSpPr txBox="1"/>
          <p:nvPr/>
        </p:nvSpPr>
        <p:spPr>
          <a:xfrm>
            <a:off x="914400" y="4562856"/>
            <a:ext cx="2850794" cy="201168"/>
          </a:xfrm>
          <a:prstGeom prst="rect">
            <a:avLst/>
          </a:prstGeom>
          <a:noFill/>
          <a:ln/>
        </p:spPr>
        <p:txBody>
          <a:bodyPr wrap="square" lIns="0" tIns="0" rIns="0" bIns="0" rtlCol="0" anchor="ctr"/>
          <a:lstStyle/>
          <a:p>
            <a:pPr indent="0" marL="0">
              <a:buNone/>
            </a:pPr>
            <a:r>
              <a:rPr lang="en-US" sz="850" spc="110" kern="0" dirty="0">
                <a:solidFill>
                  <a:srgbClr val="8A97A8"/>
                </a:solidFill>
                <a:latin typeface="Courier New" pitchFamily="34" charset="0"/>
                <a:ea typeface="Courier New" pitchFamily="34" charset="-122"/>
                <a:cs typeface="Courier New" pitchFamily="34" charset="-120"/>
              </a:rPr>
              <a:t>YOUR ACCOUNT</a:t>
            </a:r>
            <a:endParaRPr lang="en-US" sz="850" dirty="0"/>
          </a:p>
        </p:txBody>
      </p:sp>
      <p:sp>
        <p:nvSpPr>
          <p:cNvPr id="16" name="Text 14"/>
          <p:cNvSpPr txBox="1"/>
          <p:nvPr/>
        </p:nvSpPr>
        <p:spPr>
          <a:xfrm>
            <a:off x="914400" y="4773168"/>
            <a:ext cx="2850794" cy="27432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Paid Claude plan</a:t>
            </a:r>
            <a:endParaRPr lang="en-US" sz="1600" dirty="0"/>
          </a:p>
        </p:txBody>
      </p:sp>
      <p:sp>
        <p:nvSpPr>
          <p:cNvPr id="17" name="Text 15"/>
          <p:cNvSpPr txBox="1"/>
          <p:nvPr/>
        </p:nvSpPr>
        <p:spPr>
          <a:xfrm>
            <a:off x="914400" y="5074920"/>
            <a:ext cx="2850794" cy="365760"/>
          </a:xfrm>
          <a:prstGeom prst="rect">
            <a:avLst/>
          </a:prstGeom>
          <a:noFill/>
          <a:ln/>
        </p:spPr>
        <p:txBody>
          <a:bodyPr wrap="square" lIns="0" tIns="0" rIns="0" bIns="0" rtlCol="0" anchor="ctr"/>
          <a:lstStyle/>
          <a:p>
            <a:pPr indent="0" marL="0">
              <a:buNone/>
            </a:pPr>
            <a:r>
              <a:rPr lang="en-US" sz="1200" dirty="0">
                <a:solidFill>
                  <a:srgbClr val="5C6B80"/>
                </a:solidFill>
                <a:latin typeface="Calibri" pitchFamily="34" charset="0"/>
                <a:ea typeface="Calibri" pitchFamily="34" charset="-122"/>
                <a:cs typeface="Calibri" pitchFamily="34" charset="-120"/>
              </a:rPr>
              <a:t>Pro, Max, Team or Enterprise</a:t>
            </a:r>
            <a:endParaRPr lang="en-US" sz="1200" dirty="0"/>
          </a:p>
        </p:txBody>
      </p:sp>
      <p:sp>
        <p:nvSpPr>
          <p:cNvPr id="18" name="Shape 16"/>
          <p:cNvSpPr/>
          <p:nvPr/>
        </p:nvSpPr>
        <p:spPr>
          <a:xfrm>
            <a:off x="4094378" y="4882896"/>
            <a:ext cx="256032" cy="201168"/>
          </a:xfrm>
          <a:prstGeom prst="rightArrow">
            <a:avLst/>
          </a:prstGeom>
          <a:solidFill>
            <a:srgbClr val="AEB9C8"/>
          </a:solidFill>
          <a:ln w="12700">
            <a:solidFill>
              <a:srgbClr val="AEB9C8"/>
            </a:solidFill>
            <a:prstDash val="solid"/>
          </a:ln>
        </p:spPr>
      </p:sp>
      <p:sp>
        <p:nvSpPr>
          <p:cNvPr id="19" name="Shape 17"/>
          <p:cNvSpPr/>
          <p:nvPr/>
        </p:nvSpPr>
        <p:spPr>
          <a:xfrm>
            <a:off x="4469282" y="4434840"/>
            <a:ext cx="3253130" cy="1097280"/>
          </a:xfrm>
          <a:prstGeom prst="rect">
            <a:avLst/>
          </a:prstGeom>
          <a:solidFill>
            <a:srgbClr val="FFFFFF"/>
          </a:solidFill>
          <a:ln w="9525">
            <a:solidFill>
              <a:srgbClr val="DFE3EA"/>
            </a:solidFill>
            <a:prstDash val="solid"/>
          </a:ln>
        </p:spPr>
      </p:sp>
      <p:sp>
        <p:nvSpPr>
          <p:cNvPr id="20" name="Text 18"/>
          <p:cNvSpPr txBox="1"/>
          <p:nvPr/>
        </p:nvSpPr>
        <p:spPr>
          <a:xfrm>
            <a:off x="4670450" y="4562856"/>
            <a:ext cx="2850794" cy="201168"/>
          </a:xfrm>
          <a:prstGeom prst="rect">
            <a:avLst/>
          </a:prstGeom>
          <a:noFill/>
          <a:ln/>
        </p:spPr>
        <p:txBody>
          <a:bodyPr wrap="square" lIns="0" tIns="0" rIns="0" bIns="0" rtlCol="0" anchor="ctr"/>
          <a:lstStyle/>
          <a:p>
            <a:pPr indent="0" marL="0">
              <a:buNone/>
            </a:pPr>
            <a:r>
              <a:rPr lang="en-US" sz="850" spc="110" kern="0" dirty="0">
                <a:solidFill>
                  <a:srgbClr val="8A97A8"/>
                </a:solidFill>
                <a:latin typeface="Courier New" pitchFamily="34" charset="0"/>
                <a:ea typeface="Courier New" pitchFamily="34" charset="-122"/>
                <a:cs typeface="Courier New" pitchFamily="34" charset="-120"/>
              </a:rPr>
              <a:t>SIGNED IN ONCE</a:t>
            </a:r>
            <a:endParaRPr lang="en-US" sz="850" dirty="0"/>
          </a:p>
        </p:txBody>
      </p:sp>
      <p:sp>
        <p:nvSpPr>
          <p:cNvPr id="21" name="Text 19"/>
          <p:cNvSpPr txBox="1"/>
          <p:nvPr/>
        </p:nvSpPr>
        <p:spPr>
          <a:xfrm>
            <a:off x="4670450" y="4773168"/>
            <a:ext cx="2850794" cy="27432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Claude Code CLI</a:t>
            </a:r>
            <a:endParaRPr lang="en-US" sz="1600" dirty="0"/>
          </a:p>
        </p:txBody>
      </p:sp>
      <p:sp>
        <p:nvSpPr>
          <p:cNvPr id="22" name="Text 20"/>
          <p:cNvSpPr txBox="1"/>
          <p:nvPr/>
        </p:nvSpPr>
        <p:spPr>
          <a:xfrm>
            <a:off x="4670450" y="5074920"/>
            <a:ext cx="2850794" cy="365760"/>
          </a:xfrm>
          <a:prstGeom prst="rect">
            <a:avLst/>
          </a:prstGeom>
          <a:noFill/>
          <a:ln/>
        </p:spPr>
        <p:txBody>
          <a:bodyPr wrap="square" lIns="0" tIns="0" rIns="0" bIns="0" rtlCol="0" anchor="ctr"/>
          <a:lstStyle/>
          <a:p>
            <a:pPr indent="0" marL="0">
              <a:buNone/>
            </a:pPr>
            <a:r>
              <a:rPr lang="en-US" sz="1200" dirty="0">
                <a:solidFill>
                  <a:srgbClr val="5C6B80"/>
                </a:solidFill>
                <a:latin typeface="Calibri" pitchFamily="34" charset="0"/>
                <a:ea typeface="Calibri" pitchFamily="34" charset="-122"/>
                <a:cs typeface="Calibri" pitchFamily="34" charset="-120"/>
              </a:rPr>
              <a:t>Browser login, stored locally</a:t>
            </a:r>
            <a:endParaRPr lang="en-US" sz="1200" dirty="0"/>
          </a:p>
        </p:txBody>
      </p:sp>
      <p:sp>
        <p:nvSpPr>
          <p:cNvPr id="23" name="Shape 21"/>
          <p:cNvSpPr/>
          <p:nvPr/>
        </p:nvSpPr>
        <p:spPr>
          <a:xfrm>
            <a:off x="7850429" y="4882896"/>
            <a:ext cx="256032" cy="201168"/>
          </a:xfrm>
          <a:prstGeom prst="rightArrow">
            <a:avLst/>
          </a:prstGeom>
          <a:solidFill>
            <a:srgbClr val="AEB9C8"/>
          </a:solidFill>
          <a:ln w="12700">
            <a:solidFill>
              <a:srgbClr val="AEB9C8"/>
            </a:solidFill>
            <a:prstDash val="solid"/>
          </a:ln>
        </p:spPr>
      </p:sp>
      <p:sp>
        <p:nvSpPr>
          <p:cNvPr id="24" name="Shape 22"/>
          <p:cNvSpPr/>
          <p:nvPr/>
        </p:nvSpPr>
        <p:spPr>
          <a:xfrm>
            <a:off x="8225333" y="4434840"/>
            <a:ext cx="3253130" cy="1097280"/>
          </a:xfrm>
          <a:prstGeom prst="rect">
            <a:avLst/>
          </a:prstGeom>
          <a:solidFill>
            <a:srgbClr val="FFFFFF"/>
          </a:solidFill>
          <a:ln w="9525">
            <a:solidFill>
              <a:srgbClr val="DFE3EA"/>
            </a:solidFill>
            <a:prstDash val="solid"/>
          </a:ln>
        </p:spPr>
      </p:sp>
      <p:sp>
        <p:nvSpPr>
          <p:cNvPr id="25" name="Text 23"/>
          <p:cNvSpPr txBox="1"/>
          <p:nvPr/>
        </p:nvSpPr>
        <p:spPr>
          <a:xfrm>
            <a:off x="8426501" y="4562856"/>
            <a:ext cx="2850794" cy="201168"/>
          </a:xfrm>
          <a:prstGeom prst="rect">
            <a:avLst/>
          </a:prstGeom>
          <a:noFill/>
          <a:ln/>
        </p:spPr>
        <p:txBody>
          <a:bodyPr wrap="square" lIns="0" tIns="0" rIns="0" bIns="0" rtlCol="0" anchor="ctr"/>
          <a:lstStyle/>
          <a:p>
            <a:pPr indent="0" marL="0">
              <a:buNone/>
            </a:pPr>
            <a:r>
              <a:rPr lang="en-US" sz="850" spc="110" kern="0" dirty="0">
                <a:solidFill>
                  <a:srgbClr val="8A97A8"/>
                </a:solidFill>
                <a:latin typeface="Courier New" pitchFamily="34" charset="0"/>
                <a:ea typeface="Courier New" pitchFamily="34" charset="-122"/>
                <a:cs typeface="Courier New" pitchFamily="34" charset="-120"/>
              </a:rPr>
              <a:t>THE APP</a:t>
            </a:r>
            <a:endParaRPr lang="en-US" sz="850" dirty="0"/>
          </a:p>
        </p:txBody>
      </p:sp>
      <p:sp>
        <p:nvSpPr>
          <p:cNvPr id="26" name="Text 24"/>
          <p:cNvSpPr txBox="1"/>
          <p:nvPr/>
        </p:nvSpPr>
        <p:spPr>
          <a:xfrm>
            <a:off x="8426501" y="4773168"/>
            <a:ext cx="2850794" cy="27432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One call per job</a:t>
            </a:r>
            <a:endParaRPr lang="en-US" sz="1600" dirty="0"/>
          </a:p>
        </p:txBody>
      </p:sp>
      <p:sp>
        <p:nvSpPr>
          <p:cNvPr id="27" name="Text 25"/>
          <p:cNvSpPr txBox="1"/>
          <p:nvPr/>
        </p:nvSpPr>
        <p:spPr>
          <a:xfrm>
            <a:off x="8426501" y="5074920"/>
            <a:ext cx="2850794" cy="365760"/>
          </a:xfrm>
          <a:prstGeom prst="rect">
            <a:avLst/>
          </a:prstGeom>
          <a:noFill/>
          <a:ln/>
        </p:spPr>
        <p:txBody>
          <a:bodyPr wrap="square" lIns="0" tIns="0" rIns="0" bIns="0" rtlCol="0" anchor="ctr"/>
          <a:lstStyle/>
          <a:p>
            <a:pPr indent="0" marL="0">
              <a:buNone/>
            </a:pPr>
            <a:r>
              <a:rPr lang="en-US" sz="1200" dirty="0">
                <a:solidFill>
                  <a:srgbClr val="5C6B80"/>
                </a:solidFill>
                <a:latin typeface="Calibri" pitchFamily="34" charset="0"/>
                <a:ea typeface="Calibri" pitchFamily="34" charset="-122"/>
                <a:cs typeface="Calibri" pitchFamily="34" charset="-120"/>
              </a:rPr>
              <a:t>Shells out to the CLI, schema-checked</a:t>
            </a:r>
            <a:endParaRPr lang="en-US" sz="1200" dirty="0"/>
          </a:p>
        </p:txBody>
      </p:sp>
      <p:sp>
        <p:nvSpPr>
          <p:cNvPr id="28" name="Text 26"/>
          <p:cNvSpPr txBox="1"/>
          <p:nvPr/>
        </p:nvSpPr>
        <p:spPr>
          <a:xfrm>
            <a:off x="713232" y="6382512"/>
            <a:ext cx="6400800" cy="274320"/>
          </a:xfrm>
          <a:prstGeom prst="rect">
            <a:avLst/>
          </a:prstGeom>
          <a:noFill/>
          <a:ln/>
        </p:spPr>
        <p:txBody>
          <a:bodyPr wrap="square" lIns="0" tIns="0" rIns="0" bIns="0" rtlCol="0" anchor="ctr"/>
          <a:lstStyle/>
          <a:p>
            <a:pPr indent="0" marL="0">
              <a:buNone/>
            </a:pPr>
            <a:r>
              <a:rPr lang="en-US" sz="800" spc="120" kern="0" dirty="0">
                <a:solidFill>
                  <a:srgbClr val="8A97A8"/>
                </a:solidFill>
                <a:latin typeface="Courier New" pitchFamily="34" charset="0"/>
                <a:ea typeface="Courier New" pitchFamily="34" charset="-122"/>
                <a:cs typeface="Courier New" pitchFamily="34" charset="-120"/>
              </a:rPr>
              <a:t>AI PROCUREMENT ANALYST  ·  SETUP GUIDE</a:t>
            </a:r>
            <a:endParaRPr lang="en-US" sz="800" dirty="0"/>
          </a:p>
        </p:txBody>
      </p:sp>
      <p:sp>
        <p:nvSpPr>
          <p:cNvPr id="29" name="Text 27"/>
          <p:cNvSpPr txBox="1"/>
          <p:nvPr/>
        </p:nvSpPr>
        <p:spPr>
          <a:xfrm>
            <a:off x="9649663" y="6382512"/>
            <a:ext cx="1828800" cy="274320"/>
          </a:xfrm>
          <a:prstGeom prst="rect">
            <a:avLst/>
          </a:prstGeom>
          <a:noFill/>
          <a:ln/>
        </p:spPr>
        <p:txBody>
          <a:bodyPr wrap="square" lIns="0" tIns="0" rIns="0" bIns="0" rtlCol="0" anchor="ctr"/>
          <a:lstStyle/>
          <a:p>
            <a:pPr algn="r" indent="0" marL="0">
              <a:buNone/>
            </a:pPr>
            <a:r>
              <a:rPr lang="en-US" sz="800" b="1" spc="60" kern="0" dirty="0">
                <a:solidFill>
                  <a:srgbClr val="5C6B80"/>
                </a:solidFill>
                <a:latin typeface="Courier New" pitchFamily="34" charset="0"/>
                <a:ea typeface="Courier New" pitchFamily="34" charset="-122"/>
                <a:cs typeface="Courier New" pitchFamily="34" charset="-120"/>
              </a:rPr>
              <a:t>4 / 10</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457200"/>
            <a:ext cx="10765231" cy="237744"/>
          </a:xfrm>
          <a:prstGeom prst="rect">
            <a:avLst/>
          </a:prstGeom>
          <a:noFill/>
          <a:ln/>
        </p:spPr>
        <p:txBody>
          <a:bodyPr wrap="square" lIns="0" tIns="0" rIns="0" bIns="0" rtlCol="0" anchor="ctr"/>
          <a:lstStyle/>
          <a:p>
            <a:pPr indent="0" marL="0">
              <a:buNone/>
            </a:pPr>
            <a:r>
              <a:rPr lang="en-US" sz="950" spc="160" kern="0" dirty="0">
                <a:solidFill>
                  <a:srgbClr val="2563EB"/>
                </a:solidFill>
                <a:latin typeface="Courier New" pitchFamily="34" charset="0"/>
                <a:ea typeface="Courier New" pitchFamily="34" charset="-122"/>
                <a:cs typeface="Courier New" pitchFamily="34" charset="-120"/>
              </a:rPr>
              <a:t>STEPS 3 AND 4 OF 6</a:t>
            </a:r>
            <a:endParaRPr lang="en-US" sz="950" dirty="0"/>
          </a:p>
        </p:txBody>
      </p:sp>
      <p:sp>
        <p:nvSpPr>
          <p:cNvPr id="3" name="Text 1"/>
          <p:cNvSpPr txBox="1"/>
          <p:nvPr/>
        </p:nvSpPr>
        <p:spPr>
          <a:xfrm>
            <a:off x="713232" y="731520"/>
            <a:ext cx="10765231" cy="566928"/>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Get the code, install the dependencies</a:t>
            </a:r>
            <a:endParaRPr lang="en-US" sz="3000" dirty="0"/>
          </a:p>
        </p:txBody>
      </p:sp>
      <p:sp>
        <p:nvSpPr>
          <p:cNvPr id="4" name="Shape 2"/>
          <p:cNvSpPr/>
          <p:nvPr/>
        </p:nvSpPr>
        <p:spPr>
          <a:xfrm>
            <a:off x="713232" y="1389888"/>
            <a:ext cx="10765231" cy="10973"/>
          </a:xfrm>
          <a:prstGeom prst="rect">
            <a:avLst/>
          </a:prstGeom>
          <a:solidFill>
            <a:srgbClr val="DFE3EA"/>
          </a:solidFill>
          <a:ln w="12700">
            <a:solidFill>
              <a:srgbClr val="DFE3EA"/>
            </a:solidFill>
            <a:prstDash val="solid"/>
          </a:ln>
        </p:spPr>
      </p:sp>
      <p:sp>
        <p:nvSpPr>
          <p:cNvPr id="5" name="Shape 3"/>
          <p:cNvSpPr/>
          <p:nvPr/>
        </p:nvSpPr>
        <p:spPr>
          <a:xfrm>
            <a:off x="713232" y="1801368"/>
            <a:ext cx="384048" cy="274320"/>
          </a:xfrm>
          <a:prstGeom prst="roundRect">
            <a:avLst>
              <a:gd name="adj" fmla="val 16667"/>
            </a:avLst>
          </a:prstGeom>
          <a:solidFill>
            <a:srgbClr val="2563EB"/>
          </a:solidFill>
          <a:ln w="12700">
            <a:solidFill>
              <a:srgbClr val="2563EB"/>
            </a:solidFill>
            <a:prstDash val="solid"/>
          </a:ln>
        </p:spPr>
      </p:sp>
      <p:sp>
        <p:nvSpPr>
          <p:cNvPr id="6" name="Text 4"/>
          <p:cNvSpPr txBox="1"/>
          <p:nvPr/>
        </p:nvSpPr>
        <p:spPr>
          <a:xfrm>
            <a:off x="713232" y="1801368"/>
            <a:ext cx="384048"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03</a:t>
            </a:r>
            <a:endParaRPr lang="en-US" sz="1200" dirty="0"/>
          </a:p>
        </p:txBody>
      </p:sp>
      <p:sp>
        <p:nvSpPr>
          <p:cNvPr id="7" name="Text 5"/>
          <p:cNvSpPr txBox="1"/>
          <p:nvPr/>
        </p:nvSpPr>
        <p:spPr>
          <a:xfrm>
            <a:off x="1243584" y="1783080"/>
            <a:ext cx="4590288" cy="310896"/>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Clone the repository</a:t>
            </a:r>
            <a:endParaRPr lang="en-US" sz="1800" dirty="0"/>
          </a:p>
        </p:txBody>
      </p:sp>
      <p:sp>
        <p:nvSpPr>
          <p:cNvPr id="8" name="Shape 6"/>
          <p:cNvSpPr/>
          <p:nvPr/>
        </p:nvSpPr>
        <p:spPr>
          <a:xfrm>
            <a:off x="713232" y="2212848"/>
            <a:ext cx="5120640" cy="1092708"/>
          </a:xfrm>
          <a:prstGeom prst="roundRect">
            <a:avLst>
              <a:gd name="adj" fmla="val 3347"/>
            </a:avLst>
          </a:prstGeom>
          <a:solidFill>
            <a:srgbClr val="111C2E"/>
          </a:solidFill>
          <a:ln w="12700">
            <a:solidFill>
              <a:srgbClr val="111C2E"/>
            </a:solidFill>
            <a:prstDash val="solid"/>
          </a:ln>
        </p:spPr>
      </p:sp>
      <p:sp>
        <p:nvSpPr>
          <p:cNvPr id="9" name="Text 7"/>
          <p:cNvSpPr txBox="1"/>
          <p:nvPr/>
        </p:nvSpPr>
        <p:spPr>
          <a:xfrm>
            <a:off x="914400" y="2359152"/>
            <a:ext cx="4718304" cy="800100"/>
          </a:xfrm>
          <a:prstGeom prst="rect">
            <a:avLst/>
          </a:prstGeom>
          <a:noFill/>
          <a:ln/>
        </p:spPr>
        <p:txBody>
          <a:bodyPr wrap="square" lIns="0" tIns="0" rIns="0" bIns="0" rtlCol="0" anchor="t"/>
          <a:lstStyle/>
          <a:p>
            <a:pPr indent="0" marL="0">
              <a:lnSpc>
                <a:spcPct val="108000"/>
              </a:lnSpc>
              <a:buNone/>
            </a:pPr>
            <a:r>
              <a:rPr lang="en-US" sz="1300" dirty="0">
                <a:solidFill>
                  <a:srgbClr val="E6EBF3"/>
                </a:solidFill>
                <a:latin typeface="Courier New" pitchFamily="34" charset="0"/>
                <a:ea typeface="Courier New" pitchFamily="34" charset="-122"/>
                <a:cs typeface="Courier New" pitchFamily="34" charset="-120"/>
              </a:rPr>
              <a:t>git clone https://github.com/</a:t>
            </a:r>
            <a:endParaRPr lang="en-US" sz="1300" dirty="0"/>
          </a:p>
          <a:p>
            <a:pPr indent="0" marL="0">
              <a:lnSpc>
                <a:spcPct val="108000"/>
              </a:lnSpc>
              <a:buNone/>
            </a:pPr>
            <a:r>
              <a:rPr lang="en-US" sz="1300" dirty="0">
                <a:solidFill>
                  <a:srgbClr val="E6EBF3"/>
                </a:solidFill>
                <a:latin typeface="Courier New" pitchFamily="34" charset="0"/>
                <a:ea typeface="Courier New" pitchFamily="34" charset="-122"/>
                <a:cs typeface="Courier New" pitchFamily="34" charset="-120"/>
              </a:rPr>
              <a:t>  ayon-chatterjee/ai-procurement-analyst.git</a:t>
            </a:r>
            <a:endParaRPr lang="en-US" sz="1300" dirty="0"/>
          </a:p>
          <a:p>
            <a:pPr indent="0" marL="0">
              <a:lnSpc>
                <a:spcPct val="108000"/>
              </a:lnSpc>
              <a:buNone/>
            </a:pPr>
            <a:r>
              <a:rPr lang="en-US" sz="1300" dirty="0">
                <a:solidFill>
                  <a:srgbClr val="E6EBF3"/>
                </a:solidFill>
                <a:latin typeface="Courier New" pitchFamily="34" charset="0"/>
                <a:ea typeface="Courier New" pitchFamily="34" charset="-122"/>
                <a:cs typeface="Courier New" pitchFamily="34" charset="-120"/>
              </a:rPr>
              <a:t>cd ai-procurement-analyst</a:t>
            </a:r>
            <a:endParaRPr lang="en-US" sz="1300" dirty="0"/>
          </a:p>
        </p:txBody>
      </p:sp>
      <p:sp>
        <p:nvSpPr>
          <p:cNvPr id="10" name="Shape 8"/>
          <p:cNvSpPr/>
          <p:nvPr/>
        </p:nvSpPr>
        <p:spPr>
          <a:xfrm>
            <a:off x="6400800" y="1801368"/>
            <a:ext cx="384048" cy="274320"/>
          </a:xfrm>
          <a:prstGeom prst="roundRect">
            <a:avLst>
              <a:gd name="adj" fmla="val 16667"/>
            </a:avLst>
          </a:prstGeom>
          <a:solidFill>
            <a:srgbClr val="2563EB"/>
          </a:solidFill>
          <a:ln w="12700">
            <a:solidFill>
              <a:srgbClr val="2563EB"/>
            </a:solidFill>
            <a:prstDash val="solid"/>
          </a:ln>
        </p:spPr>
      </p:sp>
      <p:sp>
        <p:nvSpPr>
          <p:cNvPr id="11" name="Text 9"/>
          <p:cNvSpPr txBox="1"/>
          <p:nvPr/>
        </p:nvSpPr>
        <p:spPr>
          <a:xfrm>
            <a:off x="6400800" y="1801368"/>
            <a:ext cx="384048"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04</a:t>
            </a:r>
            <a:endParaRPr lang="en-US" sz="1200" dirty="0"/>
          </a:p>
        </p:txBody>
      </p:sp>
      <p:sp>
        <p:nvSpPr>
          <p:cNvPr id="12" name="Text 10"/>
          <p:cNvSpPr txBox="1"/>
          <p:nvPr/>
        </p:nvSpPr>
        <p:spPr>
          <a:xfrm>
            <a:off x="6931152" y="1783080"/>
            <a:ext cx="4544568" cy="310896"/>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Install the Python packages</a:t>
            </a:r>
            <a:endParaRPr lang="en-US" sz="1800" dirty="0"/>
          </a:p>
        </p:txBody>
      </p:sp>
      <p:sp>
        <p:nvSpPr>
          <p:cNvPr id="13" name="Shape 11"/>
          <p:cNvSpPr/>
          <p:nvPr/>
        </p:nvSpPr>
        <p:spPr>
          <a:xfrm>
            <a:off x="6400800" y="2212848"/>
            <a:ext cx="5074920" cy="571500"/>
          </a:xfrm>
          <a:prstGeom prst="roundRect">
            <a:avLst>
              <a:gd name="adj" fmla="val 6400"/>
            </a:avLst>
          </a:prstGeom>
          <a:solidFill>
            <a:srgbClr val="111C2E"/>
          </a:solidFill>
          <a:ln w="12700">
            <a:solidFill>
              <a:srgbClr val="111C2E"/>
            </a:solidFill>
            <a:prstDash val="solid"/>
          </a:ln>
        </p:spPr>
      </p:sp>
      <p:sp>
        <p:nvSpPr>
          <p:cNvPr id="14" name="Text 12"/>
          <p:cNvSpPr txBox="1"/>
          <p:nvPr/>
        </p:nvSpPr>
        <p:spPr>
          <a:xfrm>
            <a:off x="6601968" y="2359152"/>
            <a:ext cx="4672584" cy="278892"/>
          </a:xfrm>
          <a:prstGeom prst="rect">
            <a:avLst/>
          </a:prstGeom>
          <a:noFill/>
          <a:ln/>
        </p:spPr>
        <p:txBody>
          <a:bodyPr wrap="square" lIns="0" tIns="0" rIns="0" bIns="0" rtlCol="0" anchor="t"/>
          <a:lstStyle/>
          <a:p>
            <a:pPr indent="0" marL="0">
              <a:lnSpc>
                <a:spcPct val="108000"/>
              </a:lnSpc>
              <a:buNone/>
            </a:pPr>
            <a:r>
              <a:rPr lang="en-US" sz="1300" dirty="0">
                <a:solidFill>
                  <a:srgbClr val="E6EBF3"/>
                </a:solidFill>
                <a:latin typeface="Courier New" pitchFamily="34" charset="0"/>
                <a:ea typeface="Courier New" pitchFamily="34" charset="-122"/>
                <a:cs typeface="Courier New" pitchFamily="34" charset="-120"/>
              </a:rPr>
              <a:t>pip3 install -r requirements.txt</a:t>
            </a:r>
            <a:endParaRPr lang="en-US" sz="1300" dirty="0"/>
          </a:p>
        </p:txBody>
      </p:sp>
      <p:sp>
        <p:nvSpPr>
          <p:cNvPr id="15" name="Text 13"/>
          <p:cNvSpPr txBox="1"/>
          <p:nvPr/>
        </p:nvSpPr>
        <p:spPr>
          <a:xfrm>
            <a:off x="6400800" y="3035808"/>
            <a:ext cx="5074920" cy="548640"/>
          </a:xfrm>
          <a:prstGeom prst="rect">
            <a:avLst/>
          </a:prstGeom>
          <a:noFill/>
          <a:ln/>
        </p:spPr>
        <p:txBody>
          <a:bodyPr wrap="square" lIns="0" tIns="0" rIns="0" bIns="0" rtlCol="0" anchor="ctr"/>
          <a:lstStyle/>
          <a:p>
            <a:pPr indent="0" marL="0">
              <a:lnSpc>
                <a:spcPct val="114000"/>
              </a:lnSpc>
              <a:buNone/>
            </a:pPr>
            <a:r>
              <a:rPr lang="en-US" sz="1300" dirty="0">
                <a:solidFill>
                  <a:srgbClr val="5C6B80"/>
                </a:solidFill>
                <a:latin typeface="Calibri" pitchFamily="34" charset="0"/>
                <a:ea typeface="Calibri" pitchFamily="34" charset="-122"/>
                <a:cs typeface="Calibri" pitchFamily="34" charset="-120"/>
              </a:rPr>
              <a:t>Streamlit, pandas, jsonschema, openpyxl and Pillow — that is the whole dependency list.</a:t>
            </a:r>
            <a:endParaRPr lang="en-US" sz="1300" dirty="0"/>
          </a:p>
        </p:txBody>
      </p:sp>
      <p:sp>
        <p:nvSpPr>
          <p:cNvPr id="16" name="Shape 14"/>
          <p:cNvSpPr/>
          <p:nvPr/>
        </p:nvSpPr>
        <p:spPr>
          <a:xfrm>
            <a:off x="713232" y="3977640"/>
            <a:ext cx="10765231" cy="1627632"/>
          </a:xfrm>
          <a:prstGeom prst="rect">
            <a:avLst/>
          </a:prstGeom>
          <a:solidFill>
            <a:srgbClr val="F6F7F9"/>
          </a:solidFill>
          <a:ln w="9525">
            <a:solidFill>
              <a:srgbClr val="DFE3EA"/>
            </a:solidFill>
            <a:prstDash val="solid"/>
          </a:ln>
        </p:spPr>
      </p:sp>
      <p:sp>
        <p:nvSpPr>
          <p:cNvPr id="17" name="Text 15"/>
          <p:cNvSpPr txBox="1"/>
          <p:nvPr/>
        </p:nvSpPr>
        <p:spPr>
          <a:xfrm>
            <a:off x="1005840" y="4160520"/>
            <a:ext cx="5486400" cy="219456"/>
          </a:xfrm>
          <a:prstGeom prst="rect">
            <a:avLst/>
          </a:prstGeom>
          <a:noFill/>
          <a:ln/>
        </p:spPr>
        <p:txBody>
          <a:bodyPr wrap="square" lIns="0" tIns="0" rIns="0" bIns="0" rtlCol="0" anchor="ctr"/>
          <a:lstStyle/>
          <a:p>
            <a:pPr indent="0" marL="0">
              <a:buNone/>
            </a:pPr>
            <a:r>
              <a:rPr lang="en-US" sz="950" spc="130" kern="0" dirty="0">
                <a:solidFill>
                  <a:srgbClr val="8A97A8"/>
                </a:solidFill>
                <a:latin typeface="Courier New" pitchFamily="34" charset="0"/>
                <a:ea typeface="Courier New" pitchFamily="34" charset="-122"/>
                <a:cs typeface="Courier New" pitchFamily="34" charset="-120"/>
              </a:rPr>
              <a:t>WHERE EVERYTHING WILL LIVE</a:t>
            </a:r>
            <a:endParaRPr lang="en-US" sz="950" dirty="0"/>
          </a:p>
        </p:txBody>
      </p:sp>
      <p:sp>
        <p:nvSpPr>
          <p:cNvPr id="18" name="Text 16"/>
          <p:cNvSpPr txBox="1"/>
          <p:nvPr/>
        </p:nvSpPr>
        <p:spPr>
          <a:xfrm>
            <a:off x="1005840" y="4416552"/>
            <a:ext cx="2651760" cy="237744"/>
          </a:xfrm>
          <a:prstGeom prst="rect">
            <a:avLst/>
          </a:prstGeom>
          <a:noFill/>
          <a:ln/>
        </p:spPr>
        <p:txBody>
          <a:bodyPr wrap="square" lIns="0" tIns="0" rIns="0" bIns="0" rtlCol="0" anchor="ctr"/>
          <a:lstStyle/>
          <a:p>
            <a:pPr indent="0" marL="0">
              <a:buNone/>
            </a:pPr>
            <a:r>
              <a:rPr lang="en-US" sz="1200" dirty="0">
                <a:solidFill>
                  <a:srgbClr val="0F172A"/>
                </a:solidFill>
                <a:latin typeface="Courier New" pitchFamily="34" charset="0"/>
                <a:ea typeface="Courier New" pitchFamily="34" charset="-122"/>
                <a:cs typeface="Courier New" pitchFamily="34" charset="-120"/>
              </a:rPr>
              <a:t>data/rfq_copilot.db</a:t>
            </a:r>
            <a:endParaRPr lang="en-US" sz="1200" dirty="0"/>
          </a:p>
        </p:txBody>
      </p:sp>
      <p:sp>
        <p:nvSpPr>
          <p:cNvPr id="19" name="Text 17"/>
          <p:cNvSpPr txBox="1"/>
          <p:nvPr/>
        </p:nvSpPr>
        <p:spPr>
          <a:xfrm>
            <a:off x="3776472" y="4416552"/>
            <a:ext cx="7381951" cy="237744"/>
          </a:xfrm>
          <a:prstGeom prst="rect">
            <a:avLst/>
          </a:prstGeom>
          <a:noFill/>
          <a:ln/>
        </p:spPr>
        <p:txBody>
          <a:bodyPr wrap="square" lIns="0" tIns="0" rIns="0" bIns="0" rtlCol="0" anchor="ctr"/>
          <a:lstStyle/>
          <a:p>
            <a:pPr indent="0" marL="0">
              <a:buNone/>
            </a:pPr>
            <a:r>
              <a:rPr lang="en-US" sz="1250" dirty="0">
                <a:solidFill>
                  <a:srgbClr val="5C6B80"/>
                </a:solidFill>
                <a:latin typeface="Calibri" pitchFamily="34" charset="0"/>
                <a:ea typeface="Calibri" pitchFamily="34" charset="-122"/>
                <a:cs typeface="Calibri" pitchFamily="34" charset="-120"/>
              </a:rPr>
              <a:t>every RFQ, supplier response, quote, analyst query and award</a:t>
            </a:r>
            <a:endParaRPr lang="en-US" sz="1250" dirty="0"/>
          </a:p>
        </p:txBody>
      </p:sp>
      <p:sp>
        <p:nvSpPr>
          <p:cNvPr id="20" name="Text 18"/>
          <p:cNvSpPr txBox="1"/>
          <p:nvPr/>
        </p:nvSpPr>
        <p:spPr>
          <a:xfrm>
            <a:off x="1005840" y="4672584"/>
            <a:ext cx="2651760" cy="237744"/>
          </a:xfrm>
          <a:prstGeom prst="rect">
            <a:avLst/>
          </a:prstGeom>
          <a:noFill/>
          <a:ln/>
        </p:spPr>
        <p:txBody>
          <a:bodyPr wrap="square" lIns="0" tIns="0" rIns="0" bIns="0" rtlCol="0" anchor="ctr"/>
          <a:lstStyle/>
          <a:p>
            <a:pPr indent="0" marL="0">
              <a:buNone/>
            </a:pPr>
            <a:r>
              <a:rPr lang="en-US" sz="1200" dirty="0">
                <a:solidFill>
                  <a:srgbClr val="0F172A"/>
                </a:solidFill>
                <a:latin typeface="Courier New" pitchFamily="34" charset="0"/>
                <a:ea typeface="Courier New" pitchFamily="34" charset="-122"/>
                <a:cs typeface="Courier New" pitchFamily="34" charset="-120"/>
              </a:rPr>
              <a:t>data/uploads/</a:t>
            </a:r>
            <a:endParaRPr lang="en-US" sz="1200" dirty="0"/>
          </a:p>
        </p:txBody>
      </p:sp>
      <p:sp>
        <p:nvSpPr>
          <p:cNvPr id="21" name="Text 19"/>
          <p:cNvSpPr txBox="1"/>
          <p:nvPr/>
        </p:nvSpPr>
        <p:spPr>
          <a:xfrm>
            <a:off x="3776472" y="4672584"/>
            <a:ext cx="7381951" cy="237744"/>
          </a:xfrm>
          <a:prstGeom prst="rect">
            <a:avLst/>
          </a:prstGeom>
          <a:noFill/>
          <a:ln/>
        </p:spPr>
        <p:txBody>
          <a:bodyPr wrap="square" lIns="0" tIns="0" rIns="0" bIns="0" rtlCol="0" anchor="ctr"/>
          <a:lstStyle/>
          <a:p>
            <a:pPr indent="0" marL="0">
              <a:buNone/>
            </a:pPr>
            <a:r>
              <a:rPr lang="en-US" sz="1250" dirty="0">
                <a:solidFill>
                  <a:srgbClr val="5C6B80"/>
                </a:solidFill>
                <a:latin typeface="Calibri" pitchFamily="34" charset="0"/>
                <a:ea typeface="Calibri" pitchFamily="34" charset="-122"/>
                <a:cs typeface="Calibri" pitchFamily="34" charset="-120"/>
              </a:rPr>
              <a:t>supplier documents you add through the app</a:t>
            </a:r>
            <a:endParaRPr lang="en-US" sz="1250" dirty="0"/>
          </a:p>
        </p:txBody>
      </p:sp>
      <p:sp>
        <p:nvSpPr>
          <p:cNvPr id="22" name="Text 20"/>
          <p:cNvSpPr txBox="1"/>
          <p:nvPr/>
        </p:nvSpPr>
        <p:spPr>
          <a:xfrm>
            <a:off x="1005840" y="4928616"/>
            <a:ext cx="2651760" cy="237744"/>
          </a:xfrm>
          <a:prstGeom prst="rect">
            <a:avLst/>
          </a:prstGeom>
          <a:noFill/>
          <a:ln/>
        </p:spPr>
        <p:txBody>
          <a:bodyPr wrap="square" lIns="0" tIns="0" rIns="0" bIns="0" rtlCol="0" anchor="ctr"/>
          <a:lstStyle/>
          <a:p>
            <a:pPr indent="0" marL="0">
              <a:buNone/>
            </a:pPr>
            <a:r>
              <a:rPr lang="en-US" sz="1200" dirty="0">
                <a:solidFill>
                  <a:srgbClr val="0F172A"/>
                </a:solidFill>
                <a:latin typeface="Courier New" pitchFamily="34" charset="0"/>
                <a:ea typeface="Courier New" pitchFamily="34" charset="-122"/>
                <a:cs typeface="Courier New" pitchFamily="34" charset="-120"/>
              </a:rPr>
              <a:t>data/fx_cache.json</a:t>
            </a:r>
            <a:endParaRPr lang="en-US" sz="1200" dirty="0"/>
          </a:p>
        </p:txBody>
      </p:sp>
      <p:sp>
        <p:nvSpPr>
          <p:cNvPr id="23" name="Text 21"/>
          <p:cNvSpPr txBox="1"/>
          <p:nvPr/>
        </p:nvSpPr>
        <p:spPr>
          <a:xfrm>
            <a:off x="3776472" y="4928616"/>
            <a:ext cx="7381951" cy="237744"/>
          </a:xfrm>
          <a:prstGeom prst="rect">
            <a:avLst/>
          </a:prstGeom>
          <a:noFill/>
          <a:ln/>
        </p:spPr>
        <p:txBody>
          <a:bodyPr wrap="square" lIns="0" tIns="0" rIns="0" bIns="0" rtlCol="0" anchor="ctr"/>
          <a:lstStyle/>
          <a:p>
            <a:pPr indent="0" marL="0">
              <a:buNone/>
            </a:pPr>
            <a:r>
              <a:rPr lang="en-US" sz="1250" dirty="0">
                <a:solidFill>
                  <a:srgbClr val="5C6B80"/>
                </a:solidFill>
                <a:latin typeface="Calibri" pitchFamily="34" charset="0"/>
                <a:ea typeface="Calibri" pitchFamily="34" charset="-122"/>
                <a:cs typeface="Calibri" pitchFamily="34" charset="-120"/>
              </a:rPr>
              <a:t>exchange rates from a public endpoint, cached six hours</a:t>
            </a:r>
            <a:endParaRPr lang="en-US" sz="1250" dirty="0"/>
          </a:p>
        </p:txBody>
      </p:sp>
      <p:sp>
        <p:nvSpPr>
          <p:cNvPr id="24" name="Text 22"/>
          <p:cNvSpPr txBox="1"/>
          <p:nvPr/>
        </p:nvSpPr>
        <p:spPr>
          <a:xfrm>
            <a:off x="1005840" y="5184648"/>
            <a:ext cx="2651760" cy="237744"/>
          </a:xfrm>
          <a:prstGeom prst="rect">
            <a:avLst/>
          </a:prstGeom>
          <a:noFill/>
          <a:ln/>
        </p:spPr>
        <p:txBody>
          <a:bodyPr wrap="square" lIns="0" tIns="0" rIns="0" bIns="0" rtlCol="0" anchor="ctr"/>
          <a:lstStyle/>
          <a:p>
            <a:pPr indent="0" marL="0">
              <a:buNone/>
            </a:pPr>
            <a:r>
              <a:rPr lang="en-US" sz="1200" dirty="0">
                <a:solidFill>
                  <a:srgbClr val="0F172A"/>
                </a:solidFill>
                <a:latin typeface="Courier New" pitchFamily="34" charset="0"/>
                <a:ea typeface="Courier New" pitchFamily="34" charset="-122"/>
                <a:cs typeface="Courier New" pitchFamily="34" charset="-120"/>
              </a:rPr>
              <a:t>fixtures/suppliers/</a:t>
            </a:r>
            <a:endParaRPr lang="en-US" sz="1200" dirty="0"/>
          </a:p>
        </p:txBody>
      </p:sp>
      <p:sp>
        <p:nvSpPr>
          <p:cNvPr id="25" name="Text 23"/>
          <p:cNvSpPr txBox="1"/>
          <p:nvPr/>
        </p:nvSpPr>
        <p:spPr>
          <a:xfrm>
            <a:off x="3776472" y="5184648"/>
            <a:ext cx="7381951" cy="237744"/>
          </a:xfrm>
          <a:prstGeom prst="rect">
            <a:avLst/>
          </a:prstGeom>
          <a:noFill/>
          <a:ln/>
        </p:spPr>
        <p:txBody>
          <a:bodyPr wrap="square" lIns="0" tIns="0" rIns="0" bIns="0" rtlCol="0" anchor="ctr"/>
          <a:lstStyle/>
          <a:p>
            <a:pPr indent="0" marL="0">
              <a:buNone/>
            </a:pPr>
            <a:r>
              <a:rPr lang="en-US" sz="1250" dirty="0">
                <a:solidFill>
                  <a:srgbClr val="5C6B80"/>
                </a:solidFill>
                <a:latin typeface="Calibri" pitchFamily="34" charset="0"/>
                <a:ea typeface="Calibri" pitchFamily="34" charset="-122"/>
                <a:cs typeface="Calibri" pitchFamily="34" charset="-120"/>
              </a:rPr>
              <a:t>the demo documents the seed reads — these ARE committed</a:t>
            </a:r>
            <a:endParaRPr lang="en-US" sz="1250" dirty="0"/>
          </a:p>
        </p:txBody>
      </p:sp>
      <p:sp>
        <p:nvSpPr>
          <p:cNvPr id="26" name="Text 24"/>
          <p:cNvSpPr txBox="1"/>
          <p:nvPr/>
        </p:nvSpPr>
        <p:spPr>
          <a:xfrm>
            <a:off x="1005840" y="5458968"/>
            <a:ext cx="10180015" cy="237744"/>
          </a:xfrm>
          <a:prstGeom prst="rect">
            <a:avLst/>
          </a:prstGeom>
          <a:noFill/>
          <a:ln/>
        </p:spPr>
        <p:txBody>
          <a:bodyPr wrap="square" lIns="0" tIns="0" rIns="0" bIns="0" rtlCol="0" anchor="ctr"/>
          <a:lstStyle/>
          <a:p>
            <a:pPr indent="0" marL="0">
              <a:buNone/>
            </a:pPr>
            <a:r>
              <a:rPr lang="en-US" sz="1200" i="1" dirty="0">
                <a:solidFill>
                  <a:srgbClr val="8A97A8"/>
                </a:solidFill>
                <a:latin typeface="Calibri" pitchFamily="34" charset="0"/>
                <a:ea typeface="Calibri" pitchFamily="34" charset="-122"/>
                <a:cs typeface="Calibri" pitchFamily="34" charset="-120"/>
              </a:rPr>
              <a:t>The whole data/ folder is gitignored and never transfers between machines — the seed script rebuilds it.</a:t>
            </a:r>
            <a:endParaRPr lang="en-US" sz="1200" dirty="0"/>
          </a:p>
        </p:txBody>
      </p:sp>
      <p:sp>
        <p:nvSpPr>
          <p:cNvPr id="27" name="Text 25"/>
          <p:cNvSpPr txBox="1"/>
          <p:nvPr/>
        </p:nvSpPr>
        <p:spPr>
          <a:xfrm>
            <a:off x="713232" y="6382512"/>
            <a:ext cx="6400800" cy="274320"/>
          </a:xfrm>
          <a:prstGeom prst="rect">
            <a:avLst/>
          </a:prstGeom>
          <a:noFill/>
          <a:ln/>
        </p:spPr>
        <p:txBody>
          <a:bodyPr wrap="square" lIns="0" tIns="0" rIns="0" bIns="0" rtlCol="0" anchor="ctr"/>
          <a:lstStyle/>
          <a:p>
            <a:pPr indent="0" marL="0">
              <a:buNone/>
            </a:pPr>
            <a:r>
              <a:rPr lang="en-US" sz="800" spc="120" kern="0" dirty="0">
                <a:solidFill>
                  <a:srgbClr val="8A97A8"/>
                </a:solidFill>
                <a:latin typeface="Courier New" pitchFamily="34" charset="0"/>
                <a:ea typeface="Courier New" pitchFamily="34" charset="-122"/>
                <a:cs typeface="Courier New" pitchFamily="34" charset="-120"/>
              </a:rPr>
              <a:t>AI PROCUREMENT ANALYST  ·  SETUP GUIDE</a:t>
            </a:r>
            <a:endParaRPr lang="en-US" sz="800" dirty="0"/>
          </a:p>
        </p:txBody>
      </p:sp>
      <p:sp>
        <p:nvSpPr>
          <p:cNvPr id="28" name="Text 26"/>
          <p:cNvSpPr txBox="1"/>
          <p:nvPr/>
        </p:nvSpPr>
        <p:spPr>
          <a:xfrm>
            <a:off x="9649663" y="6382512"/>
            <a:ext cx="1828800" cy="274320"/>
          </a:xfrm>
          <a:prstGeom prst="rect">
            <a:avLst/>
          </a:prstGeom>
          <a:noFill/>
          <a:ln/>
        </p:spPr>
        <p:txBody>
          <a:bodyPr wrap="square" lIns="0" tIns="0" rIns="0" bIns="0" rtlCol="0" anchor="ctr"/>
          <a:lstStyle/>
          <a:p>
            <a:pPr algn="r" indent="0" marL="0">
              <a:buNone/>
            </a:pPr>
            <a:r>
              <a:rPr lang="en-US" sz="800" b="1" spc="60" kern="0" dirty="0">
                <a:solidFill>
                  <a:srgbClr val="5C6B80"/>
                </a:solidFill>
                <a:latin typeface="Courier New" pitchFamily="34" charset="0"/>
                <a:ea typeface="Courier New" pitchFamily="34" charset="-122"/>
                <a:cs typeface="Courier New" pitchFamily="34" charset="-120"/>
              </a:rPr>
              <a:t>5 / 10</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457200"/>
            <a:ext cx="10765231" cy="237744"/>
          </a:xfrm>
          <a:prstGeom prst="rect">
            <a:avLst/>
          </a:prstGeom>
          <a:noFill/>
          <a:ln/>
        </p:spPr>
        <p:txBody>
          <a:bodyPr wrap="square" lIns="0" tIns="0" rIns="0" bIns="0" rtlCol="0" anchor="ctr"/>
          <a:lstStyle/>
          <a:p>
            <a:pPr indent="0" marL="0">
              <a:buNone/>
            </a:pPr>
            <a:r>
              <a:rPr lang="en-US" sz="950" spc="160" kern="0" dirty="0">
                <a:solidFill>
                  <a:srgbClr val="2563EB"/>
                </a:solidFill>
                <a:latin typeface="Courier New" pitchFamily="34" charset="0"/>
                <a:ea typeface="Courier New" pitchFamily="34" charset="-122"/>
                <a:cs typeface="Courier New" pitchFamily="34" charset="-120"/>
              </a:rPr>
              <a:t>STEPS 5 AND 6 OF 6</a:t>
            </a:r>
            <a:endParaRPr lang="en-US" sz="950" dirty="0"/>
          </a:p>
        </p:txBody>
      </p:sp>
      <p:sp>
        <p:nvSpPr>
          <p:cNvPr id="3" name="Text 1"/>
          <p:cNvSpPr txBox="1"/>
          <p:nvPr/>
        </p:nvSpPr>
        <p:spPr>
          <a:xfrm>
            <a:off x="713232" y="731520"/>
            <a:ext cx="10765231" cy="566928"/>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Build the demo, then run it</a:t>
            </a:r>
            <a:endParaRPr lang="en-US" sz="3000" dirty="0"/>
          </a:p>
        </p:txBody>
      </p:sp>
      <p:sp>
        <p:nvSpPr>
          <p:cNvPr id="4" name="Shape 2"/>
          <p:cNvSpPr/>
          <p:nvPr/>
        </p:nvSpPr>
        <p:spPr>
          <a:xfrm>
            <a:off x="713232" y="1389888"/>
            <a:ext cx="10765231" cy="10973"/>
          </a:xfrm>
          <a:prstGeom prst="rect">
            <a:avLst/>
          </a:prstGeom>
          <a:solidFill>
            <a:srgbClr val="DFE3EA"/>
          </a:solidFill>
          <a:ln w="12700">
            <a:solidFill>
              <a:srgbClr val="DFE3EA"/>
            </a:solidFill>
            <a:prstDash val="solid"/>
          </a:ln>
        </p:spPr>
      </p:sp>
      <p:sp>
        <p:nvSpPr>
          <p:cNvPr id="5" name="Shape 3"/>
          <p:cNvSpPr/>
          <p:nvPr/>
        </p:nvSpPr>
        <p:spPr>
          <a:xfrm>
            <a:off x="713232" y="1801368"/>
            <a:ext cx="384048" cy="274320"/>
          </a:xfrm>
          <a:prstGeom prst="roundRect">
            <a:avLst>
              <a:gd name="adj" fmla="val 16667"/>
            </a:avLst>
          </a:prstGeom>
          <a:solidFill>
            <a:srgbClr val="2563EB"/>
          </a:solidFill>
          <a:ln w="12700">
            <a:solidFill>
              <a:srgbClr val="2563EB"/>
            </a:solidFill>
            <a:prstDash val="solid"/>
          </a:ln>
        </p:spPr>
      </p:sp>
      <p:sp>
        <p:nvSpPr>
          <p:cNvPr id="6" name="Text 4"/>
          <p:cNvSpPr txBox="1"/>
          <p:nvPr/>
        </p:nvSpPr>
        <p:spPr>
          <a:xfrm>
            <a:off x="713232" y="1801368"/>
            <a:ext cx="384048"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05</a:t>
            </a:r>
            <a:endParaRPr lang="en-US" sz="1200" dirty="0"/>
          </a:p>
        </p:txBody>
      </p:sp>
      <p:sp>
        <p:nvSpPr>
          <p:cNvPr id="7" name="Text 5"/>
          <p:cNvSpPr txBox="1"/>
          <p:nvPr/>
        </p:nvSpPr>
        <p:spPr>
          <a:xfrm>
            <a:off x="1243584" y="1783080"/>
            <a:ext cx="10234879" cy="310896"/>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Seed the demo database — this one takes about three minutes</a:t>
            </a:r>
            <a:endParaRPr lang="en-US" sz="1800" dirty="0"/>
          </a:p>
        </p:txBody>
      </p:sp>
      <p:sp>
        <p:nvSpPr>
          <p:cNvPr id="8" name="Shape 6"/>
          <p:cNvSpPr/>
          <p:nvPr/>
        </p:nvSpPr>
        <p:spPr>
          <a:xfrm>
            <a:off x="713232" y="2286000"/>
            <a:ext cx="6766560" cy="571500"/>
          </a:xfrm>
          <a:prstGeom prst="roundRect">
            <a:avLst>
              <a:gd name="adj" fmla="val 6400"/>
            </a:avLst>
          </a:prstGeom>
          <a:solidFill>
            <a:srgbClr val="111C2E"/>
          </a:solidFill>
          <a:ln w="12700">
            <a:solidFill>
              <a:srgbClr val="111C2E"/>
            </a:solidFill>
            <a:prstDash val="solid"/>
          </a:ln>
        </p:spPr>
      </p:sp>
      <p:sp>
        <p:nvSpPr>
          <p:cNvPr id="9" name="Text 7"/>
          <p:cNvSpPr txBox="1"/>
          <p:nvPr/>
        </p:nvSpPr>
        <p:spPr>
          <a:xfrm>
            <a:off x="914400" y="2432304"/>
            <a:ext cx="6364224" cy="278892"/>
          </a:xfrm>
          <a:prstGeom prst="rect">
            <a:avLst/>
          </a:prstGeom>
          <a:noFill/>
          <a:ln/>
        </p:spPr>
        <p:txBody>
          <a:bodyPr wrap="square" lIns="0" tIns="0" rIns="0" bIns="0" rtlCol="0" anchor="t"/>
          <a:lstStyle/>
          <a:p>
            <a:pPr indent="0" marL="0">
              <a:lnSpc>
                <a:spcPct val="108000"/>
              </a:lnSpc>
              <a:buNone/>
            </a:pPr>
            <a:r>
              <a:rPr lang="en-US" sz="1300" dirty="0">
                <a:solidFill>
                  <a:srgbClr val="E6EBF3"/>
                </a:solidFill>
                <a:latin typeface="Courier New" pitchFamily="34" charset="0"/>
                <a:ea typeface="Courier New" pitchFamily="34" charset="-122"/>
                <a:cs typeface="Courier New" pitchFamily="34" charset="-120"/>
              </a:rPr>
              <a:t>python3 scripts/seed_demo.py --extract</a:t>
            </a:r>
            <a:endParaRPr lang="en-US" sz="1300" dirty="0"/>
          </a:p>
        </p:txBody>
      </p:sp>
      <p:sp>
        <p:nvSpPr>
          <p:cNvPr id="10" name="Text 8"/>
          <p:cNvSpPr txBox="1"/>
          <p:nvPr/>
        </p:nvSpPr>
        <p:spPr>
          <a:xfrm>
            <a:off x="713232" y="2999232"/>
            <a:ext cx="6766560" cy="329184"/>
          </a:xfrm>
          <a:prstGeom prst="rect">
            <a:avLst/>
          </a:prstGeom>
          <a:noFill/>
          <a:ln/>
        </p:spPr>
        <p:txBody>
          <a:bodyPr wrap="square" lIns="0" tIns="0" rIns="0" bIns="0" rtlCol="0" anchor="ctr"/>
          <a:lstStyle/>
          <a:p>
            <a:pPr indent="0" marL="0">
              <a:buNone/>
            </a:pPr>
            <a:r>
              <a:rPr lang="en-US" sz="1300" dirty="0">
                <a:solidFill>
                  <a:srgbClr val="5C6B80"/>
                </a:solidFill>
                <a:latin typeface="Calibri" pitchFamily="34" charset="0"/>
                <a:ea typeface="Calibri" pitchFamily="34" charset="-122"/>
                <a:cs typeface="Calibri" pitchFamily="34" charset="-120"/>
              </a:rPr>
              <a:t>It creates the database from nothing and reads five real supplier documents with the real model.</a:t>
            </a:r>
            <a:endParaRPr lang="en-US" sz="1300" dirty="0"/>
          </a:p>
        </p:txBody>
      </p:sp>
      <p:sp>
        <p:nvSpPr>
          <p:cNvPr id="11" name="Shape 9"/>
          <p:cNvSpPr/>
          <p:nvPr/>
        </p:nvSpPr>
        <p:spPr>
          <a:xfrm>
            <a:off x="7772400" y="2286000"/>
            <a:ext cx="3703320" cy="2148840"/>
          </a:xfrm>
          <a:prstGeom prst="rect">
            <a:avLst/>
          </a:prstGeom>
          <a:solidFill>
            <a:srgbClr val="F6F7F9"/>
          </a:solidFill>
          <a:ln w="9525">
            <a:solidFill>
              <a:srgbClr val="DFE3EA"/>
            </a:solidFill>
            <a:prstDash val="solid"/>
          </a:ln>
        </p:spPr>
      </p:sp>
      <p:sp>
        <p:nvSpPr>
          <p:cNvPr id="12" name="Text 10"/>
          <p:cNvSpPr txBox="1"/>
          <p:nvPr/>
        </p:nvSpPr>
        <p:spPr>
          <a:xfrm>
            <a:off x="8046720" y="2468880"/>
            <a:ext cx="3291840" cy="219456"/>
          </a:xfrm>
          <a:prstGeom prst="rect">
            <a:avLst/>
          </a:prstGeom>
          <a:noFill/>
          <a:ln/>
        </p:spPr>
        <p:txBody>
          <a:bodyPr wrap="square" lIns="0" tIns="0" rIns="0" bIns="0" rtlCol="0" anchor="ctr"/>
          <a:lstStyle/>
          <a:p>
            <a:pPr indent="0" marL="0">
              <a:buNone/>
            </a:pPr>
            <a:r>
              <a:rPr lang="en-US" sz="950" spc="120" kern="0" dirty="0">
                <a:solidFill>
                  <a:srgbClr val="8A97A8"/>
                </a:solidFill>
                <a:latin typeface="Courier New" pitchFamily="34" charset="0"/>
                <a:ea typeface="Courier New" pitchFamily="34" charset="-122"/>
                <a:cs typeface="Courier New" pitchFamily="34" charset="-120"/>
              </a:rPr>
              <a:t>WHAT THE SEED BUILDS</a:t>
            </a:r>
            <a:endParaRPr lang="en-US" sz="950" dirty="0"/>
          </a:p>
        </p:txBody>
      </p:sp>
      <p:sp>
        <p:nvSpPr>
          <p:cNvPr id="13" name="Text 11"/>
          <p:cNvSpPr txBox="1"/>
          <p:nvPr/>
        </p:nvSpPr>
        <p:spPr>
          <a:xfrm>
            <a:off x="8046720" y="2724912"/>
            <a:ext cx="3200400" cy="1600200"/>
          </a:xfrm>
          <a:prstGeom prst="rect">
            <a:avLst/>
          </a:prstGeom>
          <a:noFill/>
          <a:ln/>
        </p:spPr>
        <p:txBody>
          <a:bodyPr wrap="square" lIns="0" tIns="0" rIns="0" bIns="0" rtlCol="0" anchor="ctr"/>
          <a:lstStyle/>
          <a:p>
            <a:pPr marL="342900" indent="-342900">
              <a:spcAft>
                <a:spcPts val="500"/>
              </a:spcAft>
              <a:buSzPct val="100000"/>
              <a:buChar char="•"/>
            </a:pPr>
            <a:r>
              <a:rPr lang="en-US" sz="1300" dirty="0">
                <a:solidFill>
                  <a:srgbClr val="243244"/>
                </a:solidFill>
                <a:latin typeface="Calibri" pitchFamily="34" charset="0"/>
                <a:ea typeface="Calibri" pitchFamily="34" charset="-122"/>
                <a:cs typeface="Calibri" pitchFamily="34" charset="-120"/>
              </a:rPr>
              <a:t>One RFQ, 30 line items</a:t>
            </a:r>
            <a:endParaRPr lang="en-US" sz="1300" dirty="0"/>
          </a:p>
          <a:p>
            <a:pPr marL="342900" indent="-342900">
              <a:spcAft>
                <a:spcPts val="500"/>
              </a:spcAft>
              <a:buSzPct val="100000"/>
              <a:buChar char="•"/>
            </a:pPr>
            <a:r>
              <a:rPr lang="en-US" sz="1300" dirty="0">
                <a:solidFill>
                  <a:srgbClr val="243244"/>
                </a:solidFill>
                <a:latin typeface="Calibri" pitchFamily="34" charset="0"/>
                <a:ea typeface="Calibri" pitchFamily="34" charset="-122"/>
                <a:cs typeface="Calibri" pitchFamily="34" charset="-120"/>
              </a:rPr>
              <a:t>Five suppliers, five formats</a:t>
            </a:r>
            <a:endParaRPr lang="en-US" sz="1300" dirty="0"/>
          </a:p>
          <a:p>
            <a:pPr marL="342900" indent="-342900">
              <a:spcAft>
                <a:spcPts val="500"/>
              </a:spcAft>
              <a:buSzPct val="100000"/>
              <a:buChar char="•"/>
            </a:pPr>
            <a:r>
              <a:rPr lang="en-US" sz="1300" dirty="0">
                <a:solidFill>
                  <a:srgbClr val="243244"/>
                </a:solidFill>
                <a:latin typeface="Calibri" pitchFamily="34" charset="0"/>
                <a:ea typeface="Calibri" pitchFamily="34" charset="-122"/>
                <a:cs typeface="Calibri" pitchFamily="34" charset="-120"/>
              </a:rPr>
              <a:t>One who never replies</a:t>
            </a:r>
            <a:endParaRPr lang="en-US" sz="1300" dirty="0"/>
          </a:p>
          <a:p>
            <a:pPr marL="342900" indent="-342900">
              <a:spcAft>
                <a:spcPts val="500"/>
              </a:spcAft>
              <a:buSzPct val="100000"/>
              <a:buChar char="•"/>
            </a:pPr>
            <a:r>
              <a:rPr lang="en-US" sz="1300" dirty="0">
                <a:solidFill>
                  <a:srgbClr val="243244"/>
                </a:solidFill>
                <a:latin typeface="Calibri" pitchFamily="34" charset="0"/>
                <a:ea typeface="Calibri" pitchFamily="34" charset="-122"/>
                <a:cs typeface="Calibri" pitchFamily="34" charset="-120"/>
              </a:rPr>
              <a:t>One revision, one contradiction</a:t>
            </a:r>
            <a:endParaRPr lang="en-US" sz="1300" dirty="0"/>
          </a:p>
          <a:p>
            <a:pPr marL="342900" indent="-342900">
              <a:spcAft>
                <a:spcPts val="500"/>
              </a:spcAft>
              <a:buSzPct val="100000"/>
              <a:buChar char="•"/>
            </a:pPr>
            <a:r>
              <a:rPr lang="en-US" sz="1300" dirty="0">
                <a:solidFill>
                  <a:srgbClr val="243244"/>
                </a:solidFill>
                <a:latin typeface="Calibri" pitchFamily="34" charset="0"/>
                <a:ea typeface="Calibri" pitchFamily="34" charset="-122"/>
                <a:cs typeface="Calibri" pitchFamily="34" charset="-120"/>
              </a:rPr>
              <a:t>One verified certificate, four claimed</a:t>
            </a:r>
            <a:endParaRPr lang="en-US" sz="1300" dirty="0"/>
          </a:p>
        </p:txBody>
      </p:sp>
      <p:sp>
        <p:nvSpPr>
          <p:cNvPr id="14" name="Shape 12"/>
          <p:cNvSpPr/>
          <p:nvPr/>
        </p:nvSpPr>
        <p:spPr>
          <a:xfrm>
            <a:off x="713232" y="3630168"/>
            <a:ext cx="384048" cy="274320"/>
          </a:xfrm>
          <a:prstGeom prst="roundRect">
            <a:avLst>
              <a:gd name="adj" fmla="val 16667"/>
            </a:avLst>
          </a:prstGeom>
          <a:solidFill>
            <a:srgbClr val="2563EB"/>
          </a:solidFill>
          <a:ln w="12700">
            <a:solidFill>
              <a:srgbClr val="2563EB"/>
            </a:solidFill>
            <a:prstDash val="solid"/>
          </a:ln>
        </p:spPr>
      </p:sp>
      <p:sp>
        <p:nvSpPr>
          <p:cNvPr id="15" name="Text 13"/>
          <p:cNvSpPr txBox="1"/>
          <p:nvPr/>
        </p:nvSpPr>
        <p:spPr>
          <a:xfrm>
            <a:off x="713232" y="3630168"/>
            <a:ext cx="384048"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06</a:t>
            </a:r>
            <a:endParaRPr lang="en-US" sz="1200" dirty="0"/>
          </a:p>
        </p:txBody>
      </p:sp>
      <p:sp>
        <p:nvSpPr>
          <p:cNvPr id="16" name="Text 14"/>
          <p:cNvSpPr txBox="1"/>
          <p:nvPr/>
        </p:nvSpPr>
        <p:spPr>
          <a:xfrm>
            <a:off x="1243584" y="3611880"/>
            <a:ext cx="10234879" cy="310896"/>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Run the app</a:t>
            </a:r>
            <a:endParaRPr lang="en-US" sz="1800" dirty="0"/>
          </a:p>
        </p:txBody>
      </p:sp>
      <p:sp>
        <p:nvSpPr>
          <p:cNvPr id="17" name="Shape 15"/>
          <p:cNvSpPr/>
          <p:nvPr/>
        </p:nvSpPr>
        <p:spPr>
          <a:xfrm>
            <a:off x="713232" y="4114800"/>
            <a:ext cx="6766560" cy="571500"/>
          </a:xfrm>
          <a:prstGeom prst="roundRect">
            <a:avLst>
              <a:gd name="adj" fmla="val 6400"/>
            </a:avLst>
          </a:prstGeom>
          <a:solidFill>
            <a:srgbClr val="111C2E"/>
          </a:solidFill>
          <a:ln w="12700">
            <a:solidFill>
              <a:srgbClr val="111C2E"/>
            </a:solidFill>
            <a:prstDash val="solid"/>
          </a:ln>
        </p:spPr>
      </p:sp>
      <p:sp>
        <p:nvSpPr>
          <p:cNvPr id="18" name="Text 16"/>
          <p:cNvSpPr txBox="1"/>
          <p:nvPr/>
        </p:nvSpPr>
        <p:spPr>
          <a:xfrm>
            <a:off x="914400" y="4261104"/>
            <a:ext cx="6364224" cy="278892"/>
          </a:xfrm>
          <a:prstGeom prst="rect">
            <a:avLst/>
          </a:prstGeom>
          <a:noFill/>
          <a:ln/>
        </p:spPr>
        <p:txBody>
          <a:bodyPr wrap="square" lIns="0" tIns="0" rIns="0" bIns="0" rtlCol="0" anchor="t"/>
          <a:lstStyle/>
          <a:p>
            <a:pPr indent="0" marL="0">
              <a:lnSpc>
                <a:spcPct val="108000"/>
              </a:lnSpc>
              <a:buNone/>
            </a:pPr>
            <a:r>
              <a:rPr lang="en-US" sz="1300" dirty="0">
                <a:solidFill>
                  <a:srgbClr val="E6EBF3"/>
                </a:solidFill>
                <a:latin typeface="Courier New" pitchFamily="34" charset="0"/>
                <a:ea typeface="Courier New" pitchFamily="34" charset="-122"/>
                <a:cs typeface="Courier New" pitchFamily="34" charset="-120"/>
              </a:rPr>
              <a:t>python3 -m streamlit run app.py</a:t>
            </a:r>
            <a:endParaRPr lang="en-US" sz="1300" dirty="0"/>
          </a:p>
        </p:txBody>
      </p:sp>
      <p:sp>
        <p:nvSpPr>
          <p:cNvPr id="19" name="Text 17"/>
          <p:cNvSpPr txBox="1"/>
          <p:nvPr/>
        </p:nvSpPr>
        <p:spPr>
          <a:xfrm>
            <a:off x="713232" y="4846320"/>
            <a:ext cx="6766560" cy="365760"/>
          </a:xfrm>
          <a:prstGeom prst="rect">
            <a:avLst/>
          </a:prstGeom>
          <a:noFill/>
          <a:ln/>
        </p:spPr>
        <p:txBody>
          <a:bodyPr wrap="square" lIns="0" tIns="0" rIns="0" bIns="0" rtlCol="0" anchor="ctr"/>
          <a:lstStyle/>
          <a:p>
            <a:pPr indent="0" marL="0">
              <a:buNone/>
            </a:pPr>
            <a:r>
              <a:rPr lang="en-US" sz="1400" dirty="0">
                <a:solidFill>
                  <a:srgbClr val="5C6B80"/>
                </a:solidFill>
                <a:latin typeface="Calibri" pitchFamily="34" charset="0"/>
                <a:ea typeface="Calibri" pitchFamily="34" charset="-122"/>
                <a:cs typeface="Calibri" pitchFamily="34" charset="-120"/>
              </a:rPr>
              <a:t>Open </a:t>
            </a:r>
            <a:pPr indent="0" marL="0">
              <a:buNone/>
            </a:pPr>
            <a:r>
              <a:rPr lang="en-US" sz="1300" dirty="0">
                <a:solidFill>
                  <a:srgbClr val="2563EB"/>
                </a:solidFill>
                <a:latin typeface="Courier New" pitchFamily="34" charset="0"/>
                <a:ea typeface="Courier New" pitchFamily="34" charset="-122"/>
                <a:cs typeface="Courier New" pitchFamily="34" charset="-120"/>
              </a:rPr>
              <a:t>http://localhost:8501</a:t>
            </a:r>
            <a:pPr indent="0" marL="0">
              <a:buNone/>
            </a:pPr>
            <a:r>
              <a:rPr lang="en-US" sz="1400" dirty="0">
                <a:solidFill>
                  <a:srgbClr val="5C6B80"/>
                </a:solidFill>
                <a:latin typeface="Calibri" pitchFamily="34" charset="0"/>
                <a:ea typeface="Calibri" pitchFamily="34" charset="-122"/>
                <a:cs typeface="Calibri" pitchFamily="34" charset="-120"/>
              </a:rPr>
              <a:t>  and press </a:t>
            </a:r>
            <a:pPr indent="0" marL="0">
              <a:buNone/>
            </a:pPr>
            <a:r>
              <a:rPr lang="en-US" sz="1400" b="1" dirty="0">
                <a:solidFill>
                  <a:srgbClr val="0F172A"/>
                </a:solidFill>
                <a:latin typeface="Calibri" pitchFamily="34" charset="0"/>
                <a:ea typeface="Calibri" pitchFamily="34" charset="-122"/>
                <a:cs typeface="Calibri" pitchFamily="34" charset="-120"/>
              </a:rPr>
              <a:t>Open</a:t>
            </a:r>
            <a:pPr indent="0" marL="0">
              <a:buNone/>
            </a:pPr>
            <a:r>
              <a:rPr lang="en-US" sz="1400" dirty="0">
                <a:solidFill>
                  <a:srgbClr val="5C6B80"/>
                </a:solidFill>
                <a:latin typeface="Calibri" pitchFamily="34" charset="0"/>
                <a:ea typeface="Calibri" pitchFamily="34" charset="-122"/>
                <a:cs typeface="Calibri" pitchFamily="34" charset="-120"/>
              </a:rPr>
              <a:t> on </a:t>
            </a:r>
            <a:pPr indent="0" marL="0">
              <a:buNone/>
            </a:pPr>
            <a:r>
              <a:rPr lang="en-US" sz="1400" b="1" dirty="0">
                <a:solidFill>
                  <a:srgbClr val="0F172A"/>
                </a:solidFill>
                <a:latin typeface="Calibri" pitchFamily="34" charset="0"/>
                <a:ea typeface="Calibri" pitchFamily="34" charset="-122"/>
                <a:cs typeface="Calibri" pitchFamily="34" charset="-120"/>
              </a:rPr>
              <a:t>Start here — the worked example</a:t>
            </a:r>
            <a:pPr indent="0" marL="0">
              <a:buNone/>
            </a:pPr>
            <a:r>
              <a:rPr lang="en-US" sz="1400" dirty="0">
                <a:solidFill>
                  <a:srgbClr val="5C6B80"/>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713232" y="6382512"/>
            <a:ext cx="6400800" cy="274320"/>
          </a:xfrm>
          <a:prstGeom prst="rect">
            <a:avLst/>
          </a:prstGeom>
          <a:noFill/>
          <a:ln/>
        </p:spPr>
        <p:txBody>
          <a:bodyPr wrap="square" lIns="0" tIns="0" rIns="0" bIns="0" rtlCol="0" anchor="ctr"/>
          <a:lstStyle/>
          <a:p>
            <a:pPr indent="0" marL="0">
              <a:buNone/>
            </a:pPr>
            <a:r>
              <a:rPr lang="en-US" sz="800" spc="120" kern="0" dirty="0">
                <a:solidFill>
                  <a:srgbClr val="8A97A8"/>
                </a:solidFill>
                <a:latin typeface="Courier New" pitchFamily="34" charset="0"/>
                <a:ea typeface="Courier New" pitchFamily="34" charset="-122"/>
                <a:cs typeface="Courier New" pitchFamily="34" charset="-120"/>
              </a:rPr>
              <a:t>AI PROCUREMENT ANALYST  ·  SETUP GUIDE</a:t>
            </a:r>
            <a:endParaRPr lang="en-US" sz="800" dirty="0"/>
          </a:p>
        </p:txBody>
      </p:sp>
      <p:sp>
        <p:nvSpPr>
          <p:cNvPr id="21" name="Text 19"/>
          <p:cNvSpPr txBox="1"/>
          <p:nvPr/>
        </p:nvSpPr>
        <p:spPr>
          <a:xfrm>
            <a:off x="9649663" y="6382512"/>
            <a:ext cx="1828800" cy="274320"/>
          </a:xfrm>
          <a:prstGeom prst="rect">
            <a:avLst/>
          </a:prstGeom>
          <a:noFill/>
          <a:ln/>
        </p:spPr>
        <p:txBody>
          <a:bodyPr wrap="square" lIns="0" tIns="0" rIns="0" bIns="0" rtlCol="0" anchor="ctr"/>
          <a:lstStyle/>
          <a:p>
            <a:pPr algn="r" indent="0" marL="0">
              <a:buNone/>
            </a:pPr>
            <a:r>
              <a:rPr lang="en-US" sz="800" b="1" spc="60" kern="0" dirty="0">
                <a:solidFill>
                  <a:srgbClr val="5C6B80"/>
                </a:solidFill>
                <a:latin typeface="Courier New" pitchFamily="34" charset="0"/>
                <a:ea typeface="Courier New" pitchFamily="34" charset="-122"/>
                <a:cs typeface="Courier New" pitchFamily="34" charset="-120"/>
              </a:rPr>
              <a:t>6 / 10</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457200"/>
            <a:ext cx="10765231" cy="237744"/>
          </a:xfrm>
          <a:prstGeom prst="rect">
            <a:avLst/>
          </a:prstGeom>
          <a:noFill/>
          <a:ln/>
        </p:spPr>
        <p:txBody>
          <a:bodyPr wrap="square" lIns="0" tIns="0" rIns="0" bIns="0" rtlCol="0" anchor="ctr"/>
          <a:lstStyle/>
          <a:p>
            <a:pPr indent="0" marL="0">
              <a:buNone/>
            </a:pPr>
            <a:r>
              <a:rPr lang="en-US" sz="950" spc="160" kern="0" dirty="0">
                <a:solidFill>
                  <a:srgbClr val="2563EB"/>
                </a:solidFill>
                <a:latin typeface="Courier New" pitchFamily="34" charset="0"/>
                <a:ea typeface="Courier New" pitchFamily="34" charset="-122"/>
                <a:cs typeface="Courier New" pitchFamily="34" charset="-120"/>
              </a:rPr>
              <a:t>VERIFY</a:t>
            </a:r>
            <a:endParaRPr lang="en-US" sz="950" dirty="0"/>
          </a:p>
        </p:txBody>
      </p:sp>
      <p:sp>
        <p:nvSpPr>
          <p:cNvPr id="3" name="Text 1"/>
          <p:cNvSpPr txBox="1"/>
          <p:nvPr/>
        </p:nvSpPr>
        <p:spPr>
          <a:xfrm>
            <a:off x="713232" y="731520"/>
            <a:ext cx="10765231" cy="566928"/>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Check it really works</a:t>
            </a:r>
            <a:endParaRPr lang="en-US" sz="3000" dirty="0"/>
          </a:p>
        </p:txBody>
      </p:sp>
      <p:sp>
        <p:nvSpPr>
          <p:cNvPr id="4" name="Shape 2"/>
          <p:cNvSpPr/>
          <p:nvPr/>
        </p:nvSpPr>
        <p:spPr>
          <a:xfrm>
            <a:off x="713232" y="1389888"/>
            <a:ext cx="10765231" cy="10973"/>
          </a:xfrm>
          <a:prstGeom prst="rect">
            <a:avLst/>
          </a:prstGeom>
          <a:solidFill>
            <a:srgbClr val="DFE3EA"/>
          </a:solidFill>
          <a:ln w="12700">
            <a:solidFill>
              <a:srgbClr val="DFE3EA"/>
            </a:solidFill>
            <a:prstDash val="solid"/>
          </a:ln>
        </p:spPr>
      </p:sp>
      <p:sp>
        <p:nvSpPr>
          <p:cNvPr id="5" name="Text 3"/>
          <p:cNvSpPr txBox="1"/>
          <p:nvPr/>
        </p:nvSpPr>
        <p:spPr>
          <a:xfrm>
            <a:off x="713232" y="1828800"/>
            <a:ext cx="2377440" cy="1005840"/>
          </a:xfrm>
          <a:prstGeom prst="rect">
            <a:avLst/>
          </a:prstGeom>
          <a:noFill/>
          <a:ln/>
        </p:spPr>
        <p:txBody>
          <a:bodyPr wrap="square" lIns="0" tIns="0" rIns="0" bIns="0" rtlCol="0" anchor="ctr"/>
          <a:lstStyle/>
          <a:p>
            <a:pPr indent="0" marL="0">
              <a:buNone/>
            </a:pPr>
            <a:r>
              <a:rPr lang="en-US" sz="6600" b="1" dirty="0">
                <a:solidFill>
                  <a:srgbClr val="0F172A"/>
                </a:solidFill>
                <a:latin typeface="Cambria" pitchFamily="34" charset="0"/>
                <a:ea typeface="Cambria" pitchFamily="34" charset="-122"/>
                <a:cs typeface="Cambria" pitchFamily="34" charset="-120"/>
              </a:rPr>
              <a:t>565</a:t>
            </a:r>
            <a:endParaRPr lang="en-US" sz="6600" dirty="0"/>
          </a:p>
        </p:txBody>
      </p:sp>
      <p:sp>
        <p:nvSpPr>
          <p:cNvPr id="6" name="Text 4"/>
          <p:cNvSpPr txBox="1"/>
          <p:nvPr/>
        </p:nvSpPr>
        <p:spPr>
          <a:xfrm>
            <a:off x="713232" y="2788920"/>
            <a:ext cx="2651760" cy="274320"/>
          </a:xfrm>
          <a:prstGeom prst="rect">
            <a:avLst/>
          </a:prstGeom>
          <a:noFill/>
          <a:ln/>
        </p:spPr>
        <p:txBody>
          <a:bodyPr wrap="square" lIns="0" tIns="0" rIns="0" bIns="0" rtlCol="0" anchor="ctr"/>
          <a:lstStyle/>
          <a:p>
            <a:pPr indent="0" marL="0">
              <a:buNone/>
            </a:pPr>
            <a:r>
              <a:rPr lang="en-US" sz="1400" dirty="0">
                <a:solidFill>
                  <a:srgbClr val="5C6B80"/>
                </a:solidFill>
                <a:latin typeface="Calibri" pitchFamily="34" charset="0"/>
                <a:ea typeface="Calibri" pitchFamily="34" charset="-122"/>
                <a:cs typeface="Calibri" pitchFamily="34" charset="-120"/>
              </a:rPr>
              <a:t>automated tests</a:t>
            </a:r>
            <a:endParaRPr lang="en-US" sz="1400" dirty="0"/>
          </a:p>
        </p:txBody>
      </p:sp>
      <p:sp>
        <p:nvSpPr>
          <p:cNvPr id="7" name="Text 5"/>
          <p:cNvSpPr txBox="1"/>
          <p:nvPr/>
        </p:nvSpPr>
        <p:spPr>
          <a:xfrm>
            <a:off x="713232" y="3017520"/>
            <a:ext cx="2651760" cy="274320"/>
          </a:xfrm>
          <a:prstGeom prst="rect">
            <a:avLst/>
          </a:prstGeom>
          <a:noFill/>
          <a:ln/>
        </p:spPr>
        <p:txBody>
          <a:bodyPr wrap="square" lIns="0" tIns="0" rIns="0" bIns="0" rtlCol="0" anchor="ctr"/>
          <a:lstStyle/>
          <a:p>
            <a:pPr indent="0" marL="0">
              <a:buNone/>
            </a:pPr>
            <a:r>
              <a:rPr lang="en-US" sz="1400" dirty="0">
                <a:solidFill>
                  <a:srgbClr val="5C6B80"/>
                </a:solidFill>
                <a:latin typeface="Calibri" pitchFamily="34" charset="0"/>
                <a:ea typeface="Calibri" pitchFamily="34" charset="-122"/>
                <a:cs typeface="Calibri" pitchFamily="34" charset="-120"/>
              </a:rPr>
              <a:t>across 17 files</a:t>
            </a:r>
            <a:endParaRPr lang="en-US" sz="1400" dirty="0"/>
          </a:p>
        </p:txBody>
      </p:sp>
      <p:sp>
        <p:nvSpPr>
          <p:cNvPr id="8" name="Shape 6"/>
          <p:cNvSpPr/>
          <p:nvPr/>
        </p:nvSpPr>
        <p:spPr>
          <a:xfrm>
            <a:off x="3566160" y="1874520"/>
            <a:ext cx="10973" cy="1371600"/>
          </a:xfrm>
          <a:prstGeom prst="rect">
            <a:avLst/>
          </a:prstGeom>
          <a:solidFill>
            <a:srgbClr val="DFE3EA"/>
          </a:solidFill>
          <a:ln w="12700">
            <a:solidFill>
              <a:srgbClr val="DFE3EA"/>
            </a:solidFill>
            <a:prstDash val="solid"/>
          </a:ln>
        </p:spPr>
      </p:sp>
      <p:sp>
        <p:nvSpPr>
          <p:cNvPr id="9" name="Text 7"/>
          <p:cNvSpPr txBox="1"/>
          <p:nvPr/>
        </p:nvSpPr>
        <p:spPr>
          <a:xfrm>
            <a:off x="3931920" y="1874520"/>
            <a:ext cx="7543800" cy="731520"/>
          </a:xfrm>
          <a:prstGeom prst="rect">
            <a:avLst/>
          </a:prstGeom>
          <a:noFill/>
          <a:ln/>
        </p:spPr>
        <p:txBody>
          <a:bodyPr wrap="square" lIns="0" tIns="0" rIns="0" bIns="0" rtlCol="0" anchor="ctr"/>
          <a:lstStyle/>
          <a:p>
            <a:pPr indent="0" marL="0">
              <a:lnSpc>
                <a:spcPct val="116000"/>
              </a:lnSpc>
              <a:buNone/>
            </a:pPr>
            <a:r>
              <a:rPr lang="en-US" sz="1600" dirty="0">
                <a:solidFill>
                  <a:srgbClr val="243244"/>
                </a:solidFill>
                <a:latin typeface="Calibri" pitchFamily="34" charset="0"/>
                <a:ea typeface="Calibri" pitchFamily="34" charset="-122"/>
                <a:cs typeface="Calibri" pitchFamily="34" charset="-120"/>
              </a:rPr>
              <a:t>No network. No API key. No model calls. It is the fastest way to prove a fresh clone is healthy — it should finish in under a minute.</a:t>
            </a:r>
            <a:endParaRPr lang="en-US" sz="1600" dirty="0"/>
          </a:p>
        </p:txBody>
      </p:sp>
      <p:sp>
        <p:nvSpPr>
          <p:cNvPr id="10" name="Shape 8"/>
          <p:cNvSpPr/>
          <p:nvPr/>
        </p:nvSpPr>
        <p:spPr>
          <a:xfrm>
            <a:off x="3931920" y="2697480"/>
            <a:ext cx="7543800" cy="571500"/>
          </a:xfrm>
          <a:prstGeom prst="roundRect">
            <a:avLst>
              <a:gd name="adj" fmla="val 6400"/>
            </a:avLst>
          </a:prstGeom>
          <a:solidFill>
            <a:srgbClr val="111C2E"/>
          </a:solidFill>
          <a:ln w="12700">
            <a:solidFill>
              <a:srgbClr val="111C2E"/>
            </a:solidFill>
            <a:prstDash val="solid"/>
          </a:ln>
        </p:spPr>
      </p:sp>
      <p:sp>
        <p:nvSpPr>
          <p:cNvPr id="11" name="Text 9"/>
          <p:cNvSpPr txBox="1"/>
          <p:nvPr/>
        </p:nvSpPr>
        <p:spPr>
          <a:xfrm>
            <a:off x="4133088" y="2843784"/>
            <a:ext cx="7141464" cy="278892"/>
          </a:xfrm>
          <a:prstGeom prst="rect">
            <a:avLst/>
          </a:prstGeom>
          <a:noFill/>
          <a:ln/>
        </p:spPr>
        <p:txBody>
          <a:bodyPr wrap="square" lIns="0" tIns="0" rIns="0" bIns="0" rtlCol="0" anchor="t"/>
          <a:lstStyle/>
          <a:p>
            <a:pPr indent="0" marL="0">
              <a:lnSpc>
                <a:spcPct val="108000"/>
              </a:lnSpc>
              <a:buNone/>
            </a:pPr>
            <a:r>
              <a:rPr lang="en-US" sz="1300" dirty="0">
                <a:solidFill>
                  <a:srgbClr val="E6EBF3"/>
                </a:solidFill>
                <a:latin typeface="Courier New" pitchFamily="34" charset="0"/>
                <a:ea typeface="Courier New" pitchFamily="34" charset="-122"/>
                <a:cs typeface="Courier New" pitchFamily="34" charset="-120"/>
              </a:rPr>
              <a:t>python3 -m unittest discover -s tests -t .</a:t>
            </a:r>
            <a:endParaRPr lang="en-US" sz="1300" dirty="0"/>
          </a:p>
        </p:txBody>
      </p:sp>
      <p:sp>
        <p:nvSpPr>
          <p:cNvPr id="12" name="Shape 10"/>
          <p:cNvSpPr/>
          <p:nvPr/>
        </p:nvSpPr>
        <p:spPr>
          <a:xfrm>
            <a:off x="713232" y="3977640"/>
            <a:ext cx="45720" cy="1188720"/>
          </a:xfrm>
          <a:prstGeom prst="rect">
            <a:avLst/>
          </a:prstGeom>
          <a:solidFill>
            <a:srgbClr val="2563EB"/>
          </a:solidFill>
          <a:ln w="12700">
            <a:solidFill>
              <a:srgbClr val="2563EB"/>
            </a:solidFill>
            <a:prstDash val="solid"/>
          </a:ln>
        </p:spPr>
      </p:sp>
      <p:sp>
        <p:nvSpPr>
          <p:cNvPr id="13" name="Shape 11"/>
          <p:cNvSpPr/>
          <p:nvPr/>
        </p:nvSpPr>
        <p:spPr>
          <a:xfrm>
            <a:off x="758952" y="3977640"/>
            <a:ext cx="10719511" cy="1188720"/>
          </a:xfrm>
          <a:prstGeom prst="rect">
            <a:avLst/>
          </a:prstGeom>
          <a:solidFill>
            <a:srgbClr val="EFF5FF"/>
          </a:solidFill>
          <a:ln w="9525">
            <a:solidFill>
              <a:srgbClr val="D8E5FB"/>
            </a:solidFill>
            <a:prstDash val="solid"/>
          </a:ln>
        </p:spPr>
      </p:sp>
      <p:sp>
        <p:nvSpPr>
          <p:cNvPr id="14" name="Text 12"/>
          <p:cNvSpPr txBox="1"/>
          <p:nvPr/>
        </p:nvSpPr>
        <p:spPr>
          <a:xfrm>
            <a:off x="1033272" y="4160520"/>
            <a:ext cx="4572000" cy="219456"/>
          </a:xfrm>
          <a:prstGeom prst="rect">
            <a:avLst/>
          </a:prstGeom>
          <a:noFill/>
          <a:ln/>
        </p:spPr>
        <p:txBody>
          <a:bodyPr wrap="square" lIns="0" tIns="0" rIns="0" bIns="0" rtlCol="0" anchor="ctr"/>
          <a:lstStyle/>
          <a:p>
            <a:pPr indent="0" marL="0">
              <a:buNone/>
            </a:pPr>
            <a:r>
              <a:rPr lang="en-US" sz="950" spc="130" kern="0" dirty="0">
                <a:solidFill>
                  <a:srgbClr val="1E40AF"/>
                </a:solidFill>
                <a:latin typeface="Courier New" pitchFamily="34" charset="0"/>
                <a:ea typeface="Courier New" pitchFamily="34" charset="-122"/>
                <a:cs typeface="Courier New" pitchFamily="34" charset="-120"/>
              </a:rPr>
              <a:t>LOOKS RIGHT WHEN</a:t>
            </a:r>
            <a:endParaRPr lang="en-US" sz="950" dirty="0"/>
          </a:p>
        </p:txBody>
      </p:sp>
      <p:sp>
        <p:nvSpPr>
          <p:cNvPr id="15" name="Text 13"/>
          <p:cNvSpPr txBox="1"/>
          <p:nvPr/>
        </p:nvSpPr>
        <p:spPr>
          <a:xfrm>
            <a:off x="1033272" y="4407408"/>
            <a:ext cx="10033711" cy="731520"/>
          </a:xfrm>
          <a:prstGeom prst="rect">
            <a:avLst/>
          </a:prstGeom>
          <a:noFill/>
          <a:ln/>
        </p:spPr>
        <p:txBody>
          <a:bodyPr wrap="square" lIns="0" tIns="0" rIns="0" bIns="0" rtlCol="0" anchor="ctr"/>
          <a:lstStyle/>
          <a:p>
            <a:pPr indent="0" marL="0">
              <a:lnSpc>
                <a:spcPct val="114000"/>
              </a:lnSpc>
              <a:buNone/>
            </a:pPr>
            <a:r>
              <a:rPr lang="en-US" sz="1600" dirty="0">
                <a:solidFill>
                  <a:srgbClr val="243244"/>
                </a:solidFill>
                <a:latin typeface="Calibri" pitchFamily="34" charset="0"/>
                <a:ea typeface="Calibri" pitchFamily="34" charset="-122"/>
                <a:cs typeface="Calibri" pitchFamily="34" charset="-120"/>
              </a:rPr>
              <a:t>The sidebar reads </a:t>
            </a:r>
            <a:pPr indent="0" marL="0">
              <a:lnSpc>
                <a:spcPct val="114000"/>
              </a:lnSpc>
              <a:buNone/>
            </a:pPr>
            <a:r>
              <a:rPr lang="en-US" sz="1600" b="1" dirty="0">
                <a:solidFill>
                  <a:srgbClr val="0F172A"/>
                </a:solidFill>
                <a:latin typeface="Calibri" pitchFamily="34" charset="0"/>
                <a:ea typeface="Calibri" pitchFamily="34" charset="-122"/>
                <a:cs typeface="Calibri" pitchFamily="34" charset="-120"/>
              </a:rPr>
              <a:t>Claude Code · signed in</a:t>
            </a:r>
            <a:pPr indent="0" marL="0">
              <a:lnSpc>
                <a:spcPct val="114000"/>
              </a:lnSpc>
              <a:buNone/>
            </a:pPr>
            <a:r>
              <a:rPr lang="en-US" sz="1600" dirty="0">
                <a:solidFill>
                  <a:srgbClr val="243244"/>
                </a:solidFill>
                <a:latin typeface="Calibri" pitchFamily="34" charset="0"/>
                <a:ea typeface="Calibri" pitchFamily="34" charset="-122"/>
                <a:cs typeface="Calibri" pitchFamily="34" charset="-120"/>
              </a:rPr>
              <a:t>.</a:t>
            </a:r>
            <a:endParaRPr lang="en-US" sz="1600" dirty="0"/>
          </a:p>
          <a:p>
            <a:pPr indent="0" marL="0">
              <a:lnSpc>
                <a:spcPct val="114000"/>
              </a:lnSpc>
              <a:buNone/>
            </a:pPr>
            <a:r>
              <a:rPr lang="en-US" sz="1400" dirty="0">
                <a:solidFill>
                  <a:srgbClr val="5C6B80"/>
                </a:solidFill>
                <a:latin typeface="Calibri" pitchFamily="34" charset="0"/>
                <a:ea typeface="Calibri" pitchFamily="34" charset="-122"/>
                <a:cs typeface="Calibri" pitchFamily="34" charset="-120"/>
              </a:rPr>
              <a:t>If it says Claude Code isn't authenticated, the app is fine and the sign-in is not — go back to step 2. That is the single most common cause of a confusing first five minutes.</a:t>
            </a:r>
            <a:endParaRPr lang="en-US" sz="1600" dirty="0"/>
          </a:p>
        </p:txBody>
      </p:sp>
      <p:sp>
        <p:nvSpPr>
          <p:cNvPr id="16" name="Text 14"/>
          <p:cNvSpPr txBox="1"/>
          <p:nvPr/>
        </p:nvSpPr>
        <p:spPr>
          <a:xfrm>
            <a:off x="713232" y="6382512"/>
            <a:ext cx="6400800" cy="274320"/>
          </a:xfrm>
          <a:prstGeom prst="rect">
            <a:avLst/>
          </a:prstGeom>
          <a:noFill/>
          <a:ln/>
        </p:spPr>
        <p:txBody>
          <a:bodyPr wrap="square" lIns="0" tIns="0" rIns="0" bIns="0" rtlCol="0" anchor="ctr"/>
          <a:lstStyle/>
          <a:p>
            <a:pPr indent="0" marL="0">
              <a:buNone/>
            </a:pPr>
            <a:r>
              <a:rPr lang="en-US" sz="800" spc="120" kern="0" dirty="0">
                <a:solidFill>
                  <a:srgbClr val="8A97A8"/>
                </a:solidFill>
                <a:latin typeface="Courier New" pitchFamily="34" charset="0"/>
                <a:ea typeface="Courier New" pitchFamily="34" charset="-122"/>
                <a:cs typeface="Courier New" pitchFamily="34" charset="-120"/>
              </a:rPr>
              <a:t>AI PROCUREMENT ANALYST  ·  SETUP GUIDE</a:t>
            </a:r>
            <a:endParaRPr lang="en-US" sz="800" dirty="0"/>
          </a:p>
        </p:txBody>
      </p:sp>
      <p:sp>
        <p:nvSpPr>
          <p:cNvPr id="17" name="Text 15"/>
          <p:cNvSpPr txBox="1"/>
          <p:nvPr/>
        </p:nvSpPr>
        <p:spPr>
          <a:xfrm>
            <a:off x="9649663" y="6382512"/>
            <a:ext cx="1828800" cy="274320"/>
          </a:xfrm>
          <a:prstGeom prst="rect">
            <a:avLst/>
          </a:prstGeom>
          <a:noFill/>
          <a:ln/>
        </p:spPr>
        <p:txBody>
          <a:bodyPr wrap="square" lIns="0" tIns="0" rIns="0" bIns="0" rtlCol="0" anchor="ctr"/>
          <a:lstStyle/>
          <a:p>
            <a:pPr algn="r" indent="0" marL="0">
              <a:buNone/>
            </a:pPr>
            <a:r>
              <a:rPr lang="en-US" sz="800" b="1" spc="60" kern="0" dirty="0">
                <a:solidFill>
                  <a:srgbClr val="5C6B80"/>
                </a:solidFill>
                <a:latin typeface="Courier New" pitchFamily="34" charset="0"/>
                <a:ea typeface="Courier New" pitchFamily="34" charset="-122"/>
                <a:cs typeface="Courier New" pitchFamily="34" charset="-120"/>
              </a:rPr>
              <a:t>7 / 10</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457200"/>
            <a:ext cx="10765231" cy="237744"/>
          </a:xfrm>
          <a:prstGeom prst="rect">
            <a:avLst/>
          </a:prstGeom>
          <a:noFill/>
          <a:ln/>
        </p:spPr>
        <p:txBody>
          <a:bodyPr wrap="square" lIns="0" tIns="0" rIns="0" bIns="0" rtlCol="0" anchor="ctr"/>
          <a:lstStyle/>
          <a:p>
            <a:pPr indent="0" marL="0">
              <a:buNone/>
            </a:pPr>
            <a:r>
              <a:rPr lang="en-US" sz="950" spc="160" kern="0" dirty="0">
                <a:solidFill>
                  <a:srgbClr val="2563EB"/>
                </a:solidFill>
                <a:latin typeface="Courier New" pitchFamily="34" charset="0"/>
                <a:ea typeface="Courier New" pitchFamily="34" charset="-122"/>
                <a:cs typeface="Courier New" pitchFamily="34" charset="-120"/>
              </a:rPr>
              <a:t>SHORTCUT</a:t>
            </a:r>
            <a:endParaRPr lang="en-US" sz="950" dirty="0"/>
          </a:p>
        </p:txBody>
      </p:sp>
      <p:sp>
        <p:nvSpPr>
          <p:cNvPr id="3" name="Text 1"/>
          <p:cNvSpPr txBox="1"/>
          <p:nvPr/>
        </p:nvSpPr>
        <p:spPr>
          <a:xfrm>
            <a:off x="713232" y="731520"/>
            <a:ext cx="10765231" cy="566928"/>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Or let Claude Code do it</a:t>
            </a:r>
            <a:endParaRPr lang="en-US" sz="3000" dirty="0"/>
          </a:p>
        </p:txBody>
      </p:sp>
      <p:sp>
        <p:nvSpPr>
          <p:cNvPr id="4" name="Shape 2"/>
          <p:cNvSpPr/>
          <p:nvPr/>
        </p:nvSpPr>
        <p:spPr>
          <a:xfrm>
            <a:off x="713232" y="1389888"/>
            <a:ext cx="10765231" cy="10973"/>
          </a:xfrm>
          <a:prstGeom prst="rect">
            <a:avLst/>
          </a:prstGeom>
          <a:solidFill>
            <a:srgbClr val="DFE3EA"/>
          </a:solidFill>
          <a:ln w="12700">
            <a:solidFill>
              <a:srgbClr val="DFE3EA"/>
            </a:solidFill>
            <a:prstDash val="solid"/>
          </a:ln>
        </p:spPr>
      </p:sp>
      <p:sp>
        <p:nvSpPr>
          <p:cNvPr id="5" name="Text 3"/>
          <p:cNvSpPr txBox="1"/>
          <p:nvPr/>
        </p:nvSpPr>
        <p:spPr>
          <a:xfrm>
            <a:off x="713232" y="1572768"/>
            <a:ext cx="10765231" cy="310896"/>
          </a:xfrm>
          <a:prstGeom prst="rect">
            <a:avLst/>
          </a:prstGeom>
          <a:noFill/>
          <a:ln/>
        </p:spPr>
        <p:txBody>
          <a:bodyPr wrap="square" lIns="0" tIns="0" rIns="0" bIns="0" rtlCol="0" anchor="ctr"/>
          <a:lstStyle/>
          <a:p>
            <a:pPr indent="0" marL="0">
              <a:buNone/>
            </a:pPr>
            <a:r>
              <a:rPr lang="en-US" sz="1400" dirty="0">
                <a:solidFill>
                  <a:srgbClr val="5C6B80"/>
                </a:solidFill>
                <a:latin typeface="Calibri" pitchFamily="34" charset="0"/>
                <a:ea typeface="Calibri" pitchFamily="34" charset="-122"/>
                <a:cs typeface="Calibri" pitchFamily="34" charset="-120"/>
              </a:rPr>
              <a:t>Once you are signed in, open a terminal in the project folder, run claude, and paste any of these.</a:t>
            </a:r>
            <a:endParaRPr lang="en-US" sz="1400" dirty="0"/>
          </a:p>
        </p:txBody>
      </p:sp>
      <p:sp>
        <p:nvSpPr>
          <p:cNvPr id="6" name="Shape 4"/>
          <p:cNvSpPr/>
          <p:nvPr/>
        </p:nvSpPr>
        <p:spPr>
          <a:xfrm>
            <a:off x="713232" y="2011680"/>
            <a:ext cx="41148" cy="658368"/>
          </a:xfrm>
          <a:prstGeom prst="rect">
            <a:avLst/>
          </a:prstGeom>
          <a:solidFill>
            <a:srgbClr val="7C3AED"/>
          </a:solidFill>
          <a:ln w="12700">
            <a:solidFill>
              <a:srgbClr val="7C3AED"/>
            </a:solidFill>
            <a:prstDash val="solid"/>
          </a:ln>
        </p:spPr>
      </p:sp>
      <p:sp>
        <p:nvSpPr>
          <p:cNvPr id="7" name="Shape 5"/>
          <p:cNvSpPr/>
          <p:nvPr/>
        </p:nvSpPr>
        <p:spPr>
          <a:xfrm>
            <a:off x="754380" y="2011680"/>
            <a:ext cx="10724083" cy="658368"/>
          </a:xfrm>
          <a:prstGeom prst="rect">
            <a:avLst/>
          </a:prstGeom>
          <a:solidFill>
            <a:srgbClr val="FBFAFF"/>
          </a:solidFill>
          <a:ln w="9525">
            <a:solidFill>
              <a:srgbClr val="E8E0FB"/>
            </a:solidFill>
            <a:prstDash val="solid"/>
          </a:ln>
        </p:spPr>
      </p:sp>
      <p:sp>
        <p:nvSpPr>
          <p:cNvPr id="8" name="Text 6"/>
          <p:cNvSpPr txBox="1"/>
          <p:nvPr/>
        </p:nvSpPr>
        <p:spPr>
          <a:xfrm>
            <a:off x="969264" y="2084832"/>
            <a:ext cx="3108960" cy="201168"/>
          </a:xfrm>
          <a:prstGeom prst="rect">
            <a:avLst/>
          </a:prstGeom>
          <a:noFill/>
          <a:ln/>
        </p:spPr>
        <p:txBody>
          <a:bodyPr wrap="square" lIns="0" tIns="0" rIns="0" bIns="0" rtlCol="0" anchor="ctr"/>
          <a:lstStyle/>
          <a:p>
            <a:pPr indent="0" marL="0">
              <a:buNone/>
            </a:pPr>
            <a:r>
              <a:rPr lang="en-US" sz="900" spc="120" kern="0" dirty="0">
                <a:solidFill>
                  <a:srgbClr val="5B21B6"/>
                </a:solidFill>
                <a:latin typeface="Courier New" pitchFamily="34" charset="0"/>
                <a:ea typeface="Courier New" pitchFamily="34" charset="-122"/>
                <a:cs typeface="Courier New" pitchFamily="34" charset="-120"/>
              </a:rPr>
              <a:t>SET IT UP</a:t>
            </a:r>
            <a:endParaRPr lang="en-US" sz="900" dirty="0"/>
          </a:p>
        </p:txBody>
      </p:sp>
      <p:sp>
        <p:nvSpPr>
          <p:cNvPr id="9" name="Text 7"/>
          <p:cNvSpPr txBox="1"/>
          <p:nvPr/>
        </p:nvSpPr>
        <p:spPr>
          <a:xfrm>
            <a:off x="969264" y="2276856"/>
            <a:ext cx="10216591" cy="365760"/>
          </a:xfrm>
          <a:prstGeom prst="rect">
            <a:avLst/>
          </a:prstGeom>
          <a:noFill/>
          <a:ln/>
        </p:spPr>
        <p:txBody>
          <a:bodyPr wrap="square" lIns="0" tIns="0" rIns="0" bIns="0" rtlCol="0" anchor="ctr"/>
          <a:lstStyle/>
          <a:p>
            <a:pPr indent="0" marL="0">
              <a:lnSpc>
                <a:spcPct val="108000"/>
              </a:lnSpc>
              <a:buNone/>
            </a:pPr>
            <a:r>
              <a:rPr lang="en-US" sz="1250" i="1" dirty="0">
                <a:solidFill>
                  <a:srgbClr val="243244"/>
                </a:solidFill>
                <a:latin typeface="Calibri" pitchFamily="34" charset="0"/>
                <a:ea typeface="Calibri" pitchFamily="34" charset="-122"/>
                <a:cs typeface="Calibri" pitchFamily="34" charset="-120"/>
              </a:rPr>
              <a:t>“Read README.md and HANDOVER.md first. Then set this project up on my machine: install the Python dependencies, seed the demo database with real extraction, and start the app. Tell me the URL when it's running. If anything fails, stop and tell me exactly what to fix.”</a:t>
            </a:r>
            <a:endParaRPr lang="en-US" sz="1250" dirty="0"/>
          </a:p>
        </p:txBody>
      </p:sp>
      <p:sp>
        <p:nvSpPr>
          <p:cNvPr id="10" name="Shape 8"/>
          <p:cNvSpPr/>
          <p:nvPr/>
        </p:nvSpPr>
        <p:spPr>
          <a:xfrm>
            <a:off x="713232" y="2779776"/>
            <a:ext cx="41148" cy="658368"/>
          </a:xfrm>
          <a:prstGeom prst="rect">
            <a:avLst/>
          </a:prstGeom>
          <a:solidFill>
            <a:srgbClr val="7C3AED"/>
          </a:solidFill>
          <a:ln w="12700">
            <a:solidFill>
              <a:srgbClr val="7C3AED"/>
            </a:solidFill>
            <a:prstDash val="solid"/>
          </a:ln>
        </p:spPr>
      </p:sp>
      <p:sp>
        <p:nvSpPr>
          <p:cNvPr id="11" name="Shape 9"/>
          <p:cNvSpPr/>
          <p:nvPr/>
        </p:nvSpPr>
        <p:spPr>
          <a:xfrm>
            <a:off x="754380" y="2779776"/>
            <a:ext cx="10724083" cy="658368"/>
          </a:xfrm>
          <a:prstGeom prst="rect">
            <a:avLst/>
          </a:prstGeom>
          <a:solidFill>
            <a:srgbClr val="FBFAFF"/>
          </a:solidFill>
          <a:ln w="9525">
            <a:solidFill>
              <a:srgbClr val="E8E0FB"/>
            </a:solidFill>
            <a:prstDash val="solid"/>
          </a:ln>
        </p:spPr>
      </p:sp>
      <p:sp>
        <p:nvSpPr>
          <p:cNvPr id="12" name="Text 10"/>
          <p:cNvSpPr txBox="1"/>
          <p:nvPr/>
        </p:nvSpPr>
        <p:spPr>
          <a:xfrm>
            <a:off x="969264" y="2852928"/>
            <a:ext cx="3108960" cy="201168"/>
          </a:xfrm>
          <a:prstGeom prst="rect">
            <a:avLst/>
          </a:prstGeom>
          <a:noFill/>
          <a:ln/>
        </p:spPr>
        <p:txBody>
          <a:bodyPr wrap="square" lIns="0" tIns="0" rIns="0" bIns="0" rtlCol="0" anchor="ctr"/>
          <a:lstStyle/>
          <a:p>
            <a:pPr indent="0" marL="0">
              <a:buNone/>
            </a:pPr>
            <a:r>
              <a:rPr lang="en-US" sz="900" spc="120" kern="0" dirty="0">
                <a:solidFill>
                  <a:srgbClr val="5B21B6"/>
                </a:solidFill>
                <a:latin typeface="Courier New" pitchFamily="34" charset="0"/>
                <a:ea typeface="Courier New" pitchFamily="34" charset="-122"/>
                <a:cs typeface="Courier New" pitchFamily="34" charset="-120"/>
              </a:rPr>
              <a:t>PROVE IT WORKS</a:t>
            </a:r>
            <a:endParaRPr lang="en-US" sz="900" dirty="0"/>
          </a:p>
        </p:txBody>
      </p:sp>
      <p:sp>
        <p:nvSpPr>
          <p:cNvPr id="13" name="Text 11"/>
          <p:cNvSpPr txBox="1"/>
          <p:nvPr/>
        </p:nvSpPr>
        <p:spPr>
          <a:xfrm>
            <a:off x="969264" y="3044952"/>
            <a:ext cx="10216591" cy="365760"/>
          </a:xfrm>
          <a:prstGeom prst="rect">
            <a:avLst/>
          </a:prstGeom>
          <a:noFill/>
          <a:ln/>
        </p:spPr>
        <p:txBody>
          <a:bodyPr wrap="square" lIns="0" tIns="0" rIns="0" bIns="0" rtlCol="0" anchor="ctr"/>
          <a:lstStyle/>
          <a:p>
            <a:pPr indent="0" marL="0">
              <a:lnSpc>
                <a:spcPct val="108000"/>
              </a:lnSpc>
              <a:buNone/>
            </a:pPr>
            <a:r>
              <a:rPr lang="en-US" sz="1250" i="1" dirty="0">
                <a:solidFill>
                  <a:srgbClr val="243244"/>
                </a:solidFill>
                <a:latin typeface="Calibri" pitchFamily="34" charset="0"/>
                <a:ea typeface="Calibri" pitchFamily="34" charset="-122"/>
                <a:cs typeface="Calibri" pitchFamily="34" charset="-120"/>
              </a:rPr>
              <a:t>“Run python3 -m unittest discover -s tests -t . and report the total number of tests and any failures. Don't change any code.”</a:t>
            </a:r>
            <a:endParaRPr lang="en-US" sz="1250" dirty="0"/>
          </a:p>
        </p:txBody>
      </p:sp>
      <p:sp>
        <p:nvSpPr>
          <p:cNvPr id="14" name="Shape 12"/>
          <p:cNvSpPr/>
          <p:nvPr/>
        </p:nvSpPr>
        <p:spPr>
          <a:xfrm>
            <a:off x="713232" y="3547872"/>
            <a:ext cx="41148" cy="658368"/>
          </a:xfrm>
          <a:prstGeom prst="rect">
            <a:avLst/>
          </a:prstGeom>
          <a:solidFill>
            <a:srgbClr val="7C3AED"/>
          </a:solidFill>
          <a:ln w="12700">
            <a:solidFill>
              <a:srgbClr val="7C3AED"/>
            </a:solidFill>
            <a:prstDash val="solid"/>
          </a:ln>
        </p:spPr>
      </p:sp>
      <p:sp>
        <p:nvSpPr>
          <p:cNvPr id="15" name="Shape 13"/>
          <p:cNvSpPr/>
          <p:nvPr/>
        </p:nvSpPr>
        <p:spPr>
          <a:xfrm>
            <a:off x="754380" y="3547872"/>
            <a:ext cx="10724083" cy="658368"/>
          </a:xfrm>
          <a:prstGeom prst="rect">
            <a:avLst/>
          </a:prstGeom>
          <a:solidFill>
            <a:srgbClr val="FBFAFF"/>
          </a:solidFill>
          <a:ln w="9525">
            <a:solidFill>
              <a:srgbClr val="E8E0FB"/>
            </a:solidFill>
            <a:prstDash val="solid"/>
          </a:ln>
        </p:spPr>
      </p:sp>
      <p:sp>
        <p:nvSpPr>
          <p:cNvPr id="16" name="Text 14"/>
          <p:cNvSpPr txBox="1"/>
          <p:nvPr/>
        </p:nvSpPr>
        <p:spPr>
          <a:xfrm>
            <a:off x="969264" y="3621024"/>
            <a:ext cx="3108960" cy="201168"/>
          </a:xfrm>
          <a:prstGeom prst="rect">
            <a:avLst/>
          </a:prstGeom>
          <a:noFill/>
          <a:ln/>
        </p:spPr>
        <p:txBody>
          <a:bodyPr wrap="square" lIns="0" tIns="0" rIns="0" bIns="0" rtlCol="0" anchor="ctr"/>
          <a:lstStyle/>
          <a:p>
            <a:pPr indent="0" marL="0">
              <a:buNone/>
            </a:pPr>
            <a:r>
              <a:rPr lang="en-US" sz="900" spc="120" kern="0" dirty="0">
                <a:solidFill>
                  <a:srgbClr val="5B21B6"/>
                </a:solidFill>
                <a:latin typeface="Courier New" pitchFamily="34" charset="0"/>
                <a:ea typeface="Courier New" pitchFamily="34" charset="-122"/>
                <a:cs typeface="Courier New" pitchFamily="34" charset="-120"/>
              </a:rPr>
              <a:t>FIX A BROKEN SETUP</a:t>
            </a:r>
            <a:endParaRPr lang="en-US" sz="900" dirty="0"/>
          </a:p>
        </p:txBody>
      </p:sp>
      <p:sp>
        <p:nvSpPr>
          <p:cNvPr id="17" name="Text 15"/>
          <p:cNvSpPr txBox="1"/>
          <p:nvPr/>
        </p:nvSpPr>
        <p:spPr>
          <a:xfrm>
            <a:off x="969264" y="3813048"/>
            <a:ext cx="10216591" cy="365760"/>
          </a:xfrm>
          <a:prstGeom prst="rect">
            <a:avLst/>
          </a:prstGeom>
          <a:noFill/>
          <a:ln/>
        </p:spPr>
        <p:txBody>
          <a:bodyPr wrap="square" lIns="0" tIns="0" rIns="0" bIns="0" rtlCol="0" anchor="ctr"/>
          <a:lstStyle/>
          <a:p>
            <a:pPr indent="0" marL="0">
              <a:lnSpc>
                <a:spcPct val="108000"/>
              </a:lnSpc>
              <a:buNone/>
            </a:pPr>
            <a:r>
              <a:rPr lang="en-US" sz="1250" i="1" dirty="0">
                <a:solidFill>
                  <a:srgbClr val="243244"/>
                </a:solidFill>
                <a:latin typeface="Calibri" pitchFamily="34" charset="0"/>
                <a:ea typeface="Calibri" pitchFamily="34" charset="-122"/>
                <a:cs typeface="Calibri" pitchFamily="34" charset="-120"/>
              </a:rPr>
              <a:t>“The app reports that Claude Code isn't authenticated. Diagnose it: check claude doctor, check whether ANTHROPIC_API_KEY is set, and check the RFQ_* settings in rfq_copilot/config.py. Tell me the one thing to change.”</a:t>
            </a:r>
            <a:endParaRPr lang="en-US" sz="1250" dirty="0"/>
          </a:p>
        </p:txBody>
      </p:sp>
      <p:sp>
        <p:nvSpPr>
          <p:cNvPr id="18" name="Shape 16"/>
          <p:cNvSpPr/>
          <p:nvPr/>
        </p:nvSpPr>
        <p:spPr>
          <a:xfrm>
            <a:off x="713232" y="4315968"/>
            <a:ext cx="41148" cy="658368"/>
          </a:xfrm>
          <a:prstGeom prst="rect">
            <a:avLst/>
          </a:prstGeom>
          <a:solidFill>
            <a:srgbClr val="7C3AED"/>
          </a:solidFill>
          <a:ln w="12700">
            <a:solidFill>
              <a:srgbClr val="7C3AED"/>
            </a:solidFill>
            <a:prstDash val="solid"/>
          </a:ln>
        </p:spPr>
      </p:sp>
      <p:sp>
        <p:nvSpPr>
          <p:cNvPr id="19" name="Shape 17"/>
          <p:cNvSpPr/>
          <p:nvPr/>
        </p:nvSpPr>
        <p:spPr>
          <a:xfrm>
            <a:off x="754380" y="4315968"/>
            <a:ext cx="10724083" cy="658368"/>
          </a:xfrm>
          <a:prstGeom prst="rect">
            <a:avLst/>
          </a:prstGeom>
          <a:solidFill>
            <a:srgbClr val="FBFAFF"/>
          </a:solidFill>
          <a:ln w="9525">
            <a:solidFill>
              <a:srgbClr val="E8E0FB"/>
            </a:solidFill>
            <a:prstDash val="solid"/>
          </a:ln>
        </p:spPr>
      </p:sp>
      <p:sp>
        <p:nvSpPr>
          <p:cNvPr id="20" name="Text 18"/>
          <p:cNvSpPr txBox="1"/>
          <p:nvPr/>
        </p:nvSpPr>
        <p:spPr>
          <a:xfrm>
            <a:off x="969264" y="4389120"/>
            <a:ext cx="3108960" cy="201168"/>
          </a:xfrm>
          <a:prstGeom prst="rect">
            <a:avLst/>
          </a:prstGeom>
          <a:noFill/>
          <a:ln/>
        </p:spPr>
        <p:txBody>
          <a:bodyPr wrap="square" lIns="0" tIns="0" rIns="0" bIns="0" rtlCol="0" anchor="ctr"/>
          <a:lstStyle/>
          <a:p>
            <a:pPr indent="0" marL="0">
              <a:buNone/>
            </a:pPr>
            <a:r>
              <a:rPr lang="en-US" sz="900" spc="120" kern="0" dirty="0">
                <a:solidFill>
                  <a:srgbClr val="5B21B6"/>
                </a:solidFill>
                <a:latin typeface="Courier New" pitchFamily="34" charset="0"/>
                <a:ea typeface="Courier New" pitchFamily="34" charset="-122"/>
                <a:cs typeface="Courier New" pitchFamily="34" charset="-120"/>
              </a:rPr>
              <a:t>RESET BEFORE A DEMO</a:t>
            </a:r>
            <a:endParaRPr lang="en-US" sz="900" dirty="0"/>
          </a:p>
        </p:txBody>
      </p:sp>
      <p:sp>
        <p:nvSpPr>
          <p:cNvPr id="21" name="Text 19"/>
          <p:cNvSpPr txBox="1"/>
          <p:nvPr/>
        </p:nvSpPr>
        <p:spPr>
          <a:xfrm>
            <a:off x="969264" y="4581144"/>
            <a:ext cx="10216591" cy="365760"/>
          </a:xfrm>
          <a:prstGeom prst="rect">
            <a:avLst/>
          </a:prstGeom>
          <a:noFill/>
          <a:ln/>
        </p:spPr>
        <p:txBody>
          <a:bodyPr wrap="square" lIns="0" tIns="0" rIns="0" bIns="0" rtlCol="0" anchor="ctr"/>
          <a:lstStyle/>
          <a:p>
            <a:pPr indent="0" marL="0">
              <a:lnSpc>
                <a:spcPct val="108000"/>
              </a:lnSpc>
              <a:buNone/>
            </a:pPr>
            <a:r>
              <a:rPr lang="en-US" sz="1250" i="1" dirty="0">
                <a:solidFill>
                  <a:srgbClr val="243244"/>
                </a:solidFill>
                <a:latin typeface="Calibri" pitchFamily="34" charset="0"/>
                <a:ea typeface="Calibri" pitchFamily="34" charset="-122"/>
                <a:cs typeface="Calibri" pitchFamily="34" charset="-120"/>
              </a:rPr>
              <a:t>“Re-seed the demo so the supplier response dates are current again, then confirm the worked example opens and the expiring-quote warning is live rather than expired.”</a:t>
            </a:r>
            <a:endParaRPr lang="en-US" sz="1250" dirty="0"/>
          </a:p>
        </p:txBody>
      </p:sp>
      <p:sp>
        <p:nvSpPr>
          <p:cNvPr id="22" name="Shape 20"/>
          <p:cNvSpPr/>
          <p:nvPr/>
        </p:nvSpPr>
        <p:spPr>
          <a:xfrm>
            <a:off x="713232" y="5084064"/>
            <a:ext cx="41148" cy="658368"/>
          </a:xfrm>
          <a:prstGeom prst="rect">
            <a:avLst/>
          </a:prstGeom>
          <a:solidFill>
            <a:srgbClr val="7C3AED"/>
          </a:solidFill>
          <a:ln w="12700">
            <a:solidFill>
              <a:srgbClr val="7C3AED"/>
            </a:solidFill>
            <a:prstDash val="solid"/>
          </a:ln>
        </p:spPr>
      </p:sp>
      <p:sp>
        <p:nvSpPr>
          <p:cNvPr id="23" name="Shape 21"/>
          <p:cNvSpPr/>
          <p:nvPr/>
        </p:nvSpPr>
        <p:spPr>
          <a:xfrm>
            <a:off x="754380" y="5084064"/>
            <a:ext cx="10724083" cy="658368"/>
          </a:xfrm>
          <a:prstGeom prst="rect">
            <a:avLst/>
          </a:prstGeom>
          <a:solidFill>
            <a:srgbClr val="FBFAFF"/>
          </a:solidFill>
          <a:ln w="9525">
            <a:solidFill>
              <a:srgbClr val="E8E0FB"/>
            </a:solidFill>
            <a:prstDash val="solid"/>
          </a:ln>
        </p:spPr>
      </p:sp>
      <p:sp>
        <p:nvSpPr>
          <p:cNvPr id="24" name="Text 22"/>
          <p:cNvSpPr txBox="1"/>
          <p:nvPr/>
        </p:nvSpPr>
        <p:spPr>
          <a:xfrm>
            <a:off x="969264" y="5157216"/>
            <a:ext cx="3108960" cy="201168"/>
          </a:xfrm>
          <a:prstGeom prst="rect">
            <a:avLst/>
          </a:prstGeom>
          <a:noFill/>
          <a:ln/>
        </p:spPr>
        <p:txBody>
          <a:bodyPr wrap="square" lIns="0" tIns="0" rIns="0" bIns="0" rtlCol="0" anchor="ctr"/>
          <a:lstStyle/>
          <a:p>
            <a:pPr indent="0" marL="0">
              <a:buNone/>
            </a:pPr>
            <a:r>
              <a:rPr lang="en-US" sz="900" spc="120" kern="0" dirty="0">
                <a:solidFill>
                  <a:srgbClr val="5B21B6"/>
                </a:solidFill>
                <a:latin typeface="Courier New" pitchFamily="34" charset="0"/>
                <a:ea typeface="Courier New" pitchFamily="34" charset="-122"/>
                <a:cs typeface="Courier New" pitchFamily="34" charset="-120"/>
              </a:rPr>
              <a:t>UNDERSTAND THE CODE</a:t>
            </a:r>
            <a:endParaRPr lang="en-US" sz="900" dirty="0"/>
          </a:p>
        </p:txBody>
      </p:sp>
      <p:sp>
        <p:nvSpPr>
          <p:cNvPr id="25" name="Text 23"/>
          <p:cNvSpPr txBox="1"/>
          <p:nvPr/>
        </p:nvSpPr>
        <p:spPr>
          <a:xfrm>
            <a:off x="969264" y="5349240"/>
            <a:ext cx="10216591" cy="365760"/>
          </a:xfrm>
          <a:prstGeom prst="rect">
            <a:avLst/>
          </a:prstGeom>
          <a:noFill/>
          <a:ln/>
        </p:spPr>
        <p:txBody>
          <a:bodyPr wrap="square" lIns="0" tIns="0" rIns="0" bIns="0" rtlCol="0" anchor="ctr"/>
          <a:lstStyle/>
          <a:p>
            <a:pPr indent="0" marL="0">
              <a:lnSpc>
                <a:spcPct val="108000"/>
              </a:lnSpc>
              <a:buNone/>
            </a:pPr>
            <a:r>
              <a:rPr lang="en-US" sz="1250" i="1" dirty="0">
                <a:solidFill>
                  <a:srgbClr val="243244"/>
                </a:solidFill>
                <a:latin typeface="Calibri" pitchFamily="34" charset="0"/>
                <a:ea typeface="Calibri" pitchFamily="34" charset="-122"/>
                <a:cs typeface="Calibri" pitchFamily="34" charset="-120"/>
              </a:rPr>
              <a:t>“Explain how a supplier's PDF becomes one row in the comparison table. Name the modules it passes through in order, and point out where the system decides what it is and isn't willing to assert.”</a:t>
            </a:r>
            <a:endParaRPr lang="en-US" sz="1250" dirty="0"/>
          </a:p>
        </p:txBody>
      </p:sp>
      <p:sp>
        <p:nvSpPr>
          <p:cNvPr id="26" name="Text 24"/>
          <p:cNvSpPr txBox="1"/>
          <p:nvPr/>
        </p:nvSpPr>
        <p:spPr>
          <a:xfrm>
            <a:off x="713232" y="6382512"/>
            <a:ext cx="6400800" cy="274320"/>
          </a:xfrm>
          <a:prstGeom prst="rect">
            <a:avLst/>
          </a:prstGeom>
          <a:noFill/>
          <a:ln/>
        </p:spPr>
        <p:txBody>
          <a:bodyPr wrap="square" lIns="0" tIns="0" rIns="0" bIns="0" rtlCol="0" anchor="ctr"/>
          <a:lstStyle/>
          <a:p>
            <a:pPr indent="0" marL="0">
              <a:buNone/>
            </a:pPr>
            <a:r>
              <a:rPr lang="en-US" sz="800" spc="120" kern="0" dirty="0">
                <a:solidFill>
                  <a:srgbClr val="8A97A8"/>
                </a:solidFill>
                <a:latin typeface="Courier New" pitchFamily="34" charset="0"/>
                <a:ea typeface="Courier New" pitchFamily="34" charset="-122"/>
                <a:cs typeface="Courier New" pitchFamily="34" charset="-120"/>
              </a:rPr>
              <a:t>AI PROCUREMENT ANALYST  ·  SETUP GUIDE</a:t>
            </a:r>
            <a:endParaRPr lang="en-US" sz="800" dirty="0"/>
          </a:p>
        </p:txBody>
      </p:sp>
      <p:sp>
        <p:nvSpPr>
          <p:cNvPr id="27" name="Text 25"/>
          <p:cNvSpPr txBox="1"/>
          <p:nvPr/>
        </p:nvSpPr>
        <p:spPr>
          <a:xfrm>
            <a:off x="9649663" y="6382512"/>
            <a:ext cx="1828800" cy="274320"/>
          </a:xfrm>
          <a:prstGeom prst="rect">
            <a:avLst/>
          </a:prstGeom>
          <a:noFill/>
          <a:ln/>
        </p:spPr>
        <p:txBody>
          <a:bodyPr wrap="square" lIns="0" tIns="0" rIns="0" bIns="0" rtlCol="0" anchor="ctr"/>
          <a:lstStyle/>
          <a:p>
            <a:pPr algn="r" indent="0" marL="0">
              <a:buNone/>
            </a:pPr>
            <a:r>
              <a:rPr lang="en-US" sz="800" b="1" spc="60" kern="0" dirty="0">
                <a:solidFill>
                  <a:srgbClr val="5C6B80"/>
                </a:solidFill>
                <a:latin typeface="Courier New" pitchFamily="34" charset="0"/>
                <a:ea typeface="Courier New" pitchFamily="34" charset="-122"/>
                <a:cs typeface="Courier New" pitchFamily="34" charset="-120"/>
              </a:rPr>
              <a:t>8 / 10</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457200"/>
            <a:ext cx="10765231" cy="237744"/>
          </a:xfrm>
          <a:prstGeom prst="rect">
            <a:avLst/>
          </a:prstGeom>
          <a:noFill/>
          <a:ln/>
        </p:spPr>
        <p:txBody>
          <a:bodyPr wrap="square" lIns="0" tIns="0" rIns="0" bIns="0" rtlCol="0" anchor="ctr"/>
          <a:lstStyle/>
          <a:p>
            <a:pPr indent="0" marL="0">
              <a:buNone/>
            </a:pPr>
            <a:r>
              <a:rPr lang="en-US" sz="950" spc="160" kern="0" dirty="0">
                <a:solidFill>
                  <a:srgbClr val="2563EB"/>
                </a:solidFill>
                <a:latin typeface="Courier New" pitchFamily="34" charset="0"/>
                <a:ea typeface="Courier New" pitchFamily="34" charset="-122"/>
                <a:cs typeface="Courier New" pitchFamily="34" charset="-120"/>
              </a:rPr>
              <a:t>TROUBLESHOOTING</a:t>
            </a:r>
            <a:endParaRPr lang="en-US" sz="950" dirty="0"/>
          </a:p>
        </p:txBody>
      </p:sp>
      <p:sp>
        <p:nvSpPr>
          <p:cNvPr id="3" name="Text 1"/>
          <p:cNvSpPr txBox="1"/>
          <p:nvPr/>
        </p:nvSpPr>
        <p:spPr>
          <a:xfrm>
            <a:off x="713232" y="731520"/>
            <a:ext cx="10765231" cy="566928"/>
          </a:xfrm>
          <a:prstGeom prst="rect">
            <a:avLst/>
          </a:prstGeom>
          <a:noFill/>
          <a:ln/>
        </p:spPr>
        <p:txBody>
          <a:bodyPr wrap="square" lIns="0" tIns="0" rIns="0" bIns="0" rtlCol="0" anchor="ctr"/>
          <a:lstStyle/>
          <a:p>
            <a:pPr indent="0" marL="0">
              <a:buNone/>
            </a:pPr>
            <a:r>
              <a:rPr lang="en-US" sz="3000" b="1" dirty="0">
                <a:solidFill>
                  <a:srgbClr val="0F172A"/>
                </a:solidFill>
                <a:latin typeface="Cambria" pitchFamily="34" charset="0"/>
                <a:ea typeface="Cambria" pitchFamily="34" charset="-122"/>
                <a:cs typeface="Cambria" pitchFamily="34" charset="-120"/>
              </a:rPr>
              <a:t>If something goes wrong</a:t>
            </a:r>
            <a:endParaRPr lang="en-US" sz="3000" dirty="0"/>
          </a:p>
        </p:txBody>
      </p:sp>
      <p:sp>
        <p:nvSpPr>
          <p:cNvPr id="4" name="Shape 2"/>
          <p:cNvSpPr/>
          <p:nvPr/>
        </p:nvSpPr>
        <p:spPr>
          <a:xfrm>
            <a:off x="713232" y="1389888"/>
            <a:ext cx="10765231" cy="10973"/>
          </a:xfrm>
          <a:prstGeom prst="rect">
            <a:avLst/>
          </a:prstGeom>
          <a:solidFill>
            <a:srgbClr val="DFE3EA"/>
          </a:solidFill>
          <a:ln w="12700">
            <a:solidFill>
              <a:srgbClr val="DFE3EA"/>
            </a:solidFill>
            <a:prstDash val="solid"/>
          </a:ln>
        </p:spPr>
      </p:sp>
      <p:sp>
        <p:nvSpPr>
          <p:cNvPr id="5" name="Text 3"/>
          <p:cNvSpPr txBox="1"/>
          <p:nvPr/>
        </p:nvSpPr>
        <p:spPr>
          <a:xfrm>
            <a:off x="713232" y="1627632"/>
            <a:ext cx="4206240" cy="219456"/>
          </a:xfrm>
          <a:prstGeom prst="rect">
            <a:avLst/>
          </a:prstGeom>
          <a:noFill/>
          <a:ln/>
        </p:spPr>
        <p:txBody>
          <a:bodyPr wrap="square" lIns="0" tIns="0" rIns="0" bIns="0" rtlCol="0" anchor="ctr"/>
          <a:lstStyle/>
          <a:p>
            <a:pPr indent="0" marL="0">
              <a:buNone/>
            </a:pPr>
            <a:r>
              <a:rPr lang="en-US" sz="900" spc="120" kern="0" dirty="0">
                <a:solidFill>
                  <a:srgbClr val="8A97A8"/>
                </a:solidFill>
                <a:latin typeface="Courier New" pitchFamily="34" charset="0"/>
                <a:ea typeface="Courier New" pitchFamily="34" charset="-122"/>
                <a:cs typeface="Courier New" pitchFamily="34" charset="-120"/>
              </a:rPr>
              <a:t>WHAT YOU SEE</a:t>
            </a:r>
            <a:endParaRPr lang="en-US" sz="900" dirty="0"/>
          </a:p>
        </p:txBody>
      </p:sp>
      <p:sp>
        <p:nvSpPr>
          <p:cNvPr id="6" name="Text 4"/>
          <p:cNvSpPr txBox="1"/>
          <p:nvPr/>
        </p:nvSpPr>
        <p:spPr>
          <a:xfrm>
            <a:off x="5193792" y="1627632"/>
            <a:ext cx="4572000" cy="219456"/>
          </a:xfrm>
          <a:prstGeom prst="rect">
            <a:avLst/>
          </a:prstGeom>
          <a:noFill/>
          <a:ln/>
        </p:spPr>
        <p:txBody>
          <a:bodyPr wrap="square" lIns="0" tIns="0" rIns="0" bIns="0" rtlCol="0" anchor="ctr"/>
          <a:lstStyle/>
          <a:p>
            <a:pPr indent="0" marL="0">
              <a:buNone/>
            </a:pPr>
            <a:r>
              <a:rPr lang="en-US" sz="900" spc="120" kern="0" dirty="0">
                <a:solidFill>
                  <a:srgbClr val="8A97A8"/>
                </a:solidFill>
                <a:latin typeface="Courier New" pitchFamily="34" charset="0"/>
                <a:ea typeface="Courier New" pitchFamily="34" charset="-122"/>
                <a:cs typeface="Courier New" pitchFamily="34" charset="-120"/>
              </a:rPr>
              <a:t>WHAT TO DO</a:t>
            </a:r>
            <a:endParaRPr lang="en-US" sz="900" dirty="0"/>
          </a:p>
        </p:txBody>
      </p:sp>
      <p:sp>
        <p:nvSpPr>
          <p:cNvPr id="7" name="Shape 5"/>
          <p:cNvSpPr/>
          <p:nvPr/>
        </p:nvSpPr>
        <p:spPr>
          <a:xfrm>
            <a:off x="713232" y="1856232"/>
            <a:ext cx="10765231" cy="10973"/>
          </a:xfrm>
          <a:prstGeom prst="rect">
            <a:avLst/>
          </a:prstGeom>
          <a:solidFill>
            <a:srgbClr val="DFE3EA"/>
          </a:solidFill>
          <a:ln w="12700">
            <a:solidFill>
              <a:srgbClr val="DFE3EA"/>
            </a:solidFill>
            <a:prstDash val="solid"/>
          </a:ln>
        </p:spPr>
      </p:sp>
      <p:sp>
        <p:nvSpPr>
          <p:cNvPr id="8" name="Text 6"/>
          <p:cNvSpPr txBox="1"/>
          <p:nvPr/>
        </p:nvSpPr>
        <p:spPr>
          <a:xfrm>
            <a:off x="713232" y="1956816"/>
            <a:ext cx="4297680" cy="457200"/>
          </a:xfrm>
          <a:prstGeom prst="rect">
            <a:avLst/>
          </a:prstGeom>
          <a:noFill/>
          <a:ln/>
        </p:spPr>
        <p:txBody>
          <a:bodyPr wrap="square" lIns="0" tIns="0" rIns="0" bIns="0" rtlCol="0" anchor="ctr"/>
          <a:lstStyle/>
          <a:p>
            <a:pPr indent="0" marL="0">
              <a:lnSpc>
                <a:spcPct val="104000"/>
              </a:lnSpc>
              <a:buNone/>
            </a:pPr>
            <a:r>
              <a:rPr lang="en-US" sz="1250" b="1" dirty="0">
                <a:solidFill>
                  <a:srgbClr val="0F172A"/>
                </a:solidFill>
                <a:latin typeface="Calibri" pitchFamily="34" charset="0"/>
                <a:ea typeface="Calibri" pitchFamily="34" charset="-122"/>
                <a:cs typeface="Calibri" pitchFamily="34" charset="-120"/>
              </a:rPr>
              <a:t>“Claude Code isn't authenticated”</a:t>
            </a:r>
            <a:endParaRPr lang="en-US" sz="1250" dirty="0"/>
          </a:p>
        </p:txBody>
      </p:sp>
      <p:sp>
        <p:nvSpPr>
          <p:cNvPr id="9" name="Text 7"/>
          <p:cNvSpPr txBox="1"/>
          <p:nvPr/>
        </p:nvSpPr>
        <p:spPr>
          <a:xfrm>
            <a:off x="5193792" y="1956816"/>
            <a:ext cx="6284671" cy="457200"/>
          </a:xfrm>
          <a:prstGeom prst="rect">
            <a:avLst/>
          </a:prstGeom>
          <a:noFill/>
          <a:ln/>
        </p:spPr>
        <p:txBody>
          <a:bodyPr wrap="square" lIns="0" tIns="0" rIns="0" bIns="0" rtlCol="0" anchor="ctr"/>
          <a:lstStyle/>
          <a:p>
            <a:pPr indent="0" marL="0">
              <a:lnSpc>
                <a:spcPct val="104000"/>
              </a:lnSpc>
              <a:buNone/>
            </a:pPr>
            <a:r>
              <a:rPr lang="en-US" sz="1250" dirty="0">
                <a:solidFill>
                  <a:srgbClr val="5C6B80"/>
                </a:solidFill>
                <a:latin typeface="Calibri" pitchFamily="34" charset="0"/>
                <a:ea typeface="Calibri" pitchFamily="34" charset="-122"/>
                <a:cs typeface="Calibri" pitchFamily="34" charset="-120"/>
              </a:rPr>
              <a:t>Run claude and sign in; check with /status. Everything else can be fine and the app still look broken.</a:t>
            </a:r>
            <a:endParaRPr lang="en-US" sz="1250" dirty="0"/>
          </a:p>
        </p:txBody>
      </p:sp>
      <p:sp>
        <p:nvSpPr>
          <p:cNvPr id="10" name="Shape 8"/>
          <p:cNvSpPr/>
          <p:nvPr/>
        </p:nvSpPr>
        <p:spPr>
          <a:xfrm>
            <a:off x="713232" y="2400300"/>
            <a:ext cx="10765231" cy="7315"/>
          </a:xfrm>
          <a:prstGeom prst="rect">
            <a:avLst/>
          </a:prstGeom>
          <a:solidFill>
            <a:srgbClr val="EDEFF3"/>
          </a:solidFill>
          <a:ln w="12700">
            <a:solidFill>
              <a:srgbClr val="EDEFF3"/>
            </a:solidFill>
            <a:prstDash val="solid"/>
          </a:ln>
        </p:spPr>
      </p:sp>
      <p:sp>
        <p:nvSpPr>
          <p:cNvPr id="11" name="Text 9"/>
          <p:cNvSpPr txBox="1"/>
          <p:nvPr/>
        </p:nvSpPr>
        <p:spPr>
          <a:xfrm>
            <a:off x="713232" y="2478024"/>
            <a:ext cx="4297680" cy="457200"/>
          </a:xfrm>
          <a:prstGeom prst="rect">
            <a:avLst/>
          </a:prstGeom>
          <a:noFill/>
          <a:ln/>
        </p:spPr>
        <p:txBody>
          <a:bodyPr wrap="square" lIns="0" tIns="0" rIns="0" bIns="0" rtlCol="0" anchor="ctr"/>
          <a:lstStyle/>
          <a:p>
            <a:pPr indent="0" marL="0">
              <a:lnSpc>
                <a:spcPct val="104000"/>
              </a:lnSpc>
              <a:buNone/>
            </a:pPr>
            <a:r>
              <a:rPr lang="en-US" sz="1250" b="1" dirty="0">
                <a:solidFill>
                  <a:srgbClr val="0F172A"/>
                </a:solidFill>
                <a:latin typeface="Calibri" pitchFamily="34" charset="0"/>
                <a:ea typeface="Calibri" pitchFamily="34" charset="-122"/>
                <a:cs typeface="Calibri" pitchFamily="34" charset="-120"/>
              </a:rPr>
              <a:t>command not found: claude</a:t>
            </a:r>
            <a:endParaRPr lang="en-US" sz="1250" dirty="0"/>
          </a:p>
        </p:txBody>
      </p:sp>
      <p:sp>
        <p:nvSpPr>
          <p:cNvPr id="12" name="Text 10"/>
          <p:cNvSpPr txBox="1"/>
          <p:nvPr/>
        </p:nvSpPr>
        <p:spPr>
          <a:xfrm>
            <a:off x="5193792" y="2478024"/>
            <a:ext cx="6284671" cy="457200"/>
          </a:xfrm>
          <a:prstGeom prst="rect">
            <a:avLst/>
          </a:prstGeom>
          <a:noFill/>
          <a:ln/>
        </p:spPr>
        <p:txBody>
          <a:bodyPr wrap="square" lIns="0" tIns="0" rIns="0" bIns="0" rtlCol="0" anchor="ctr"/>
          <a:lstStyle/>
          <a:p>
            <a:pPr indent="0" marL="0">
              <a:lnSpc>
                <a:spcPct val="104000"/>
              </a:lnSpc>
              <a:buNone/>
            </a:pPr>
            <a:r>
              <a:rPr lang="en-US" sz="1250" dirty="0">
                <a:solidFill>
                  <a:srgbClr val="5C6B80"/>
                </a:solidFill>
                <a:latin typeface="Calibri" pitchFamily="34" charset="0"/>
                <a:ea typeface="Calibri" pitchFamily="34" charset="-122"/>
                <a:cs typeface="Calibri" pitchFamily="34" charset="-120"/>
              </a:rPr>
              <a:t>The install didn't finish, or ~/.local/bin isn't on your PATH. Re-run the installer, then claude --version.</a:t>
            </a:r>
            <a:endParaRPr lang="en-US" sz="1250" dirty="0"/>
          </a:p>
        </p:txBody>
      </p:sp>
      <p:sp>
        <p:nvSpPr>
          <p:cNvPr id="13" name="Shape 11"/>
          <p:cNvSpPr/>
          <p:nvPr/>
        </p:nvSpPr>
        <p:spPr>
          <a:xfrm>
            <a:off x="713232" y="2921508"/>
            <a:ext cx="10765231" cy="7315"/>
          </a:xfrm>
          <a:prstGeom prst="rect">
            <a:avLst/>
          </a:prstGeom>
          <a:solidFill>
            <a:srgbClr val="EDEFF3"/>
          </a:solidFill>
          <a:ln w="12700">
            <a:solidFill>
              <a:srgbClr val="EDEFF3"/>
            </a:solidFill>
            <a:prstDash val="solid"/>
          </a:ln>
        </p:spPr>
      </p:sp>
      <p:sp>
        <p:nvSpPr>
          <p:cNvPr id="14" name="Text 12"/>
          <p:cNvSpPr txBox="1"/>
          <p:nvPr/>
        </p:nvSpPr>
        <p:spPr>
          <a:xfrm>
            <a:off x="713232" y="2999232"/>
            <a:ext cx="4297680" cy="457200"/>
          </a:xfrm>
          <a:prstGeom prst="rect">
            <a:avLst/>
          </a:prstGeom>
          <a:noFill/>
          <a:ln/>
        </p:spPr>
        <p:txBody>
          <a:bodyPr wrap="square" lIns="0" tIns="0" rIns="0" bIns="0" rtlCol="0" anchor="ctr"/>
          <a:lstStyle/>
          <a:p>
            <a:pPr indent="0" marL="0">
              <a:lnSpc>
                <a:spcPct val="104000"/>
              </a:lnSpc>
              <a:buNone/>
            </a:pPr>
            <a:r>
              <a:rPr lang="en-US" sz="1250" b="1" dirty="0">
                <a:solidFill>
                  <a:srgbClr val="0F172A"/>
                </a:solidFill>
                <a:latin typeface="Calibri" pitchFamily="34" charset="0"/>
                <a:ea typeface="Calibri" pitchFamily="34" charset="-122"/>
                <a:cs typeface="Calibri" pitchFamily="34" charset="-120"/>
              </a:rPr>
              <a:t>A usage-limit message on a Team plan</a:t>
            </a:r>
            <a:endParaRPr lang="en-US" sz="1250" dirty="0"/>
          </a:p>
        </p:txBody>
      </p:sp>
      <p:sp>
        <p:nvSpPr>
          <p:cNvPr id="15" name="Text 13"/>
          <p:cNvSpPr txBox="1"/>
          <p:nvPr/>
        </p:nvSpPr>
        <p:spPr>
          <a:xfrm>
            <a:off x="5193792" y="2999232"/>
            <a:ext cx="6284671" cy="457200"/>
          </a:xfrm>
          <a:prstGeom prst="rect">
            <a:avLst/>
          </a:prstGeom>
          <a:noFill/>
          <a:ln/>
        </p:spPr>
        <p:txBody>
          <a:bodyPr wrap="square" lIns="0" tIns="0" rIns="0" bIns="0" rtlCol="0" anchor="ctr"/>
          <a:lstStyle/>
          <a:p>
            <a:pPr indent="0" marL="0">
              <a:lnSpc>
                <a:spcPct val="104000"/>
              </a:lnSpc>
              <a:buNone/>
            </a:pPr>
            <a:r>
              <a:rPr lang="en-US" sz="1250" dirty="0">
                <a:solidFill>
                  <a:srgbClr val="5C6B80"/>
                </a:solidFill>
                <a:latin typeface="Calibri" pitchFamily="34" charset="0"/>
                <a:ea typeface="Calibri" pitchFamily="34" charset="-122"/>
                <a:cs typeface="Calibri" pitchFamily="34" charset="-120"/>
              </a:rPr>
              <a:t>Check /status reports the team subscription. A stale personal entitlement is refused even when the team account has capacity.</a:t>
            </a:r>
            <a:endParaRPr lang="en-US" sz="1250" dirty="0"/>
          </a:p>
        </p:txBody>
      </p:sp>
      <p:sp>
        <p:nvSpPr>
          <p:cNvPr id="16" name="Shape 14"/>
          <p:cNvSpPr/>
          <p:nvPr/>
        </p:nvSpPr>
        <p:spPr>
          <a:xfrm>
            <a:off x="713232" y="3442716"/>
            <a:ext cx="10765231" cy="7315"/>
          </a:xfrm>
          <a:prstGeom prst="rect">
            <a:avLst/>
          </a:prstGeom>
          <a:solidFill>
            <a:srgbClr val="EDEFF3"/>
          </a:solidFill>
          <a:ln w="12700">
            <a:solidFill>
              <a:srgbClr val="EDEFF3"/>
            </a:solidFill>
            <a:prstDash val="solid"/>
          </a:ln>
        </p:spPr>
      </p:sp>
      <p:sp>
        <p:nvSpPr>
          <p:cNvPr id="17" name="Text 15"/>
          <p:cNvSpPr txBox="1"/>
          <p:nvPr/>
        </p:nvSpPr>
        <p:spPr>
          <a:xfrm>
            <a:off x="713232" y="3520440"/>
            <a:ext cx="4297680" cy="457200"/>
          </a:xfrm>
          <a:prstGeom prst="rect">
            <a:avLst/>
          </a:prstGeom>
          <a:noFill/>
          <a:ln/>
        </p:spPr>
        <p:txBody>
          <a:bodyPr wrap="square" lIns="0" tIns="0" rIns="0" bIns="0" rtlCol="0" anchor="ctr"/>
          <a:lstStyle/>
          <a:p>
            <a:pPr indent="0" marL="0">
              <a:lnSpc>
                <a:spcPct val="104000"/>
              </a:lnSpc>
              <a:buNone/>
            </a:pPr>
            <a:r>
              <a:rPr lang="en-US" sz="1250" b="1" dirty="0">
                <a:solidFill>
                  <a:srgbClr val="0F172A"/>
                </a:solidFill>
                <a:latin typeface="Calibri" pitchFamily="34" charset="0"/>
                <a:ea typeface="Calibri" pitchFamily="34" charset="-122"/>
                <a:cs typeface="Calibri" pitchFamily="34" charset="-120"/>
              </a:rPr>
              <a:t>It's using an API key, not your plan</a:t>
            </a:r>
            <a:endParaRPr lang="en-US" sz="1250" dirty="0"/>
          </a:p>
        </p:txBody>
      </p:sp>
      <p:sp>
        <p:nvSpPr>
          <p:cNvPr id="18" name="Text 16"/>
          <p:cNvSpPr txBox="1"/>
          <p:nvPr/>
        </p:nvSpPr>
        <p:spPr>
          <a:xfrm>
            <a:off x="5193792" y="3520440"/>
            <a:ext cx="6284671" cy="457200"/>
          </a:xfrm>
          <a:prstGeom prst="rect">
            <a:avLst/>
          </a:prstGeom>
          <a:noFill/>
          <a:ln/>
        </p:spPr>
        <p:txBody>
          <a:bodyPr wrap="square" lIns="0" tIns="0" rIns="0" bIns="0" rtlCol="0" anchor="ctr"/>
          <a:lstStyle/>
          <a:p>
            <a:pPr indent="0" marL="0">
              <a:lnSpc>
                <a:spcPct val="104000"/>
              </a:lnSpc>
              <a:buNone/>
            </a:pPr>
            <a:r>
              <a:rPr lang="en-US" sz="1250" dirty="0">
                <a:solidFill>
                  <a:srgbClr val="5C6B80"/>
                </a:solidFill>
                <a:latin typeface="Calibri" pitchFamily="34" charset="0"/>
                <a:ea typeface="Calibri" pitchFamily="34" charset="-122"/>
                <a:cs typeface="Calibri" pitchFamily="34" charset="-120"/>
              </a:rPr>
              <a:t>Run unset ANTHROPIC_API_KEY, then re-check /status.</a:t>
            </a:r>
            <a:endParaRPr lang="en-US" sz="1250" dirty="0"/>
          </a:p>
        </p:txBody>
      </p:sp>
      <p:sp>
        <p:nvSpPr>
          <p:cNvPr id="19" name="Shape 17"/>
          <p:cNvSpPr/>
          <p:nvPr/>
        </p:nvSpPr>
        <p:spPr>
          <a:xfrm>
            <a:off x="713232" y="3963924"/>
            <a:ext cx="10765231" cy="7315"/>
          </a:xfrm>
          <a:prstGeom prst="rect">
            <a:avLst/>
          </a:prstGeom>
          <a:solidFill>
            <a:srgbClr val="EDEFF3"/>
          </a:solidFill>
          <a:ln w="12700">
            <a:solidFill>
              <a:srgbClr val="EDEFF3"/>
            </a:solidFill>
            <a:prstDash val="solid"/>
          </a:ln>
        </p:spPr>
      </p:sp>
      <p:sp>
        <p:nvSpPr>
          <p:cNvPr id="20" name="Text 18"/>
          <p:cNvSpPr txBox="1"/>
          <p:nvPr/>
        </p:nvSpPr>
        <p:spPr>
          <a:xfrm>
            <a:off x="713232" y="4041648"/>
            <a:ext cx="4297680" cy="457200"/>
          </a:xfrm>
          <a:prstGeom prst="rect">
            <a:avLst/>
          </a:prstGeom>
          <a:noFill/>
          <a:ln/>
        </p:spPr>
        <p:txBody>
          <a:bodyPr wrap="square" lIns="0" tIns="0" rIns="0" bIns="0" rtlCol="0" anchor="ctr"/>
          <a:lstStyle/>
          <a:p>
            <a:pPr indent="0" marL="0">
              <a:lnSpc>
                <a:spcPct val="104000"/>
              </a:lnSpc>
              <a:buNone/>
            </a:pPr>
            <a:r>
              <a:rPr lang="en-US" sz="1250" b="1" dirty="0">
                <a:solidFill>
                  <a:srgbClr val="0F172A"/>
                </a:solidFill>
                <a:latin typeface="Calibri" pitchFamily="34" charset="0"/>
                <a:ea typeface="Calibri" pitchFamily="34" charset="-122"/>
                <a:cs typeface="Calibri" pitchFamily="34" charset="-120"/>
              </a:rPr>
              <a:t>Extraction feels slow</a:t>
            </a:r>
            <a:endParaRPr lang="en-US" sz="1250" dirty="0"/>
          </a:p>
        </p:txBody>
      </p:sp>
      <p:sp>
        <p:nvSpPr>
          <p:cNvPr id="21" name="Text 19"/>
          <p:cNvSpPr txBox="1"/>
          <p:nvPr/>
        </p:nvSpPr>
        <p:spPr>
          <a:xfrm>
            <a:off x="5193792" y="4041648"/>
            <a:ext cx="6284671" cy="457200"/>
          </a:xfrm>
          <a:prstGeom prst="rect">
            <a:avLst/>
          </a:prstGeom>
          <a:noFill/>
          <a:ln/>
        </p:spPr>
        <p:txBody>
          <a:bodyPr wrap="square" lIns="0" tIns="0" rIns="0" bIns="0" rtlCol="0" anchor="ctr"/>
          <a:lstStyle/>
          <a:p>
            <a:pPr indent="0" marL="0">
              <a:lnSpc>
                <a:spcPct val="104000"/>
              </a:lnSpc>
              <a:buNone/>
            </a:pPr>
            <a:r>
              <a:rPr lang="en-US" sz="1250" dirty="0">
                <a:solidFill>
                  <a:srgbClr val="5C6B80"/>
                </a:solidFill>
                <a:latin typeface="Calibri" pitchFamily="34" charset="0"/>
                <a:ea typeface="Calibri" pitchFamily="34" charset="-122"/>
                <a:cs typeface="Calibri" pitchFamily="34" charset="-120"/>
              </a:rPr>
              <a:t>Normal — 30–90 seconds per response, four at a time.</a:t>
            </a:r>
            <a:endParaRPr lang="en-US" sz="1250" dirty="0"/>
          </a:p>
        </p:txBody>
      </p:sp>
      <p:sp>
        <p:nvSpPr>
          <p:cNvPr id="22" name="Shape 20"/>
          <p:cNvSpPr/>
          <p:nvPr/>
        </p:nvSpPr>
        <p:spPr>
          <a:xfrm>
            <a:off x="713232" y="4485132"/>
            <a:ext cx="10765231" cy="7315"/>
          </a:xfrm>
          <a:prstGeom prst="rect">
            <a:avLst/>
          </a:prstGeom>
          <a:solidFill>
            <a:srgbClr val="EDEFF3"/>
          </a:solidFill>
          <a:ln w="12700">
            <a:solidFill>
              <a:srgbClr val="EDEFF3"/>
            </a:solidFill>
            <a:prstDash val="solid"/>
          </a:ln>
        </p:spPr>
      </p:sp>
      <p:sp>
        <p:nvSpPr>
          <p:cNvPr id="23" name="Text 21"/>
          <p:cNvSpPr txBox="1"/>
          <p:nvPr/>
        </p:nvSpPr>
        <p:spPr>
          <a:xfrm>
            <a:off x="713232" y="4562856"/>
            <a:ext cx="4297680" cy="457200"/>
          </a:xfrm>
          <a:prstGeom prst="rect">
            <a:avLst/>
          </a:prstGeom>
          <a:noFill/>
          <a:ln/>
        </p:spPr>
        <p:txBody>
          <a:bodyPr wrap="square" lIns="0" tIns="0" rIns="0" bIns="0" rtlCol="0" anchor="ctr"/>
          <a:lstStyle/>
          <a:p>
            <a:pPr indent="0" marL="0">
              <a:lnSpc>
                <a:spcPct val="104000"/>
              </a:lnSpc>
              <a:buNone/>
            </a:pPr>
            <a:r>
              <a:rPr lang="en-US" sz="1250" b="1" dirty="0">
                <a:solidFill>
                  <a:srgbClr val="0F172A"/>
                </a:solidFill>
                <a:latin typeface="Calibri" pitchFamily="34" charset="0"/>
                <a:ea typeface="Calibri" pitchFamily="34" charset="-122"/>
                <a:cs typeface="Calibri" pitchFamily="34" charset="-120"/>
              </a:rPr>
              <a:t>A model call timed out</a:t>
            </a:r>
            <a:endParaRPr lang="en-US" sz="1250" dirty="0"/>
          </a:p>
        </p:txBody>
      </p:sp>
      <p:sp>
        <p:nvSpPr>
          <p:cNvPr id="24" name="Text 22"/>
          <p:cNvSpPr txBox="1"/>
          <p:nvPr/>
        </p:nvSpPr>
        <p:spPr>
          <a:xfrm>
            <a:off x="5193792" y="4562856"/>
            <a:ext cx="6284671" cy="457200"/>
          </a:xfrm>
          <a:prstGeom prst="rect">
            <a:avLst/>
          </a:prstGeom>
          <a:noFill/>
          <a:ln/>
        </p:spPr>
        <p:txBody>
          <a:bodyPr wrap="square" lIns="0" tIns="0" rIns="0" bIns="0" rtlCol="0" anchor="ctr"/>
          <a:lstStyle/>
          <a:p>
            <a:pPr indent="0" marL="0">
              <a:lnSpc>
                <a:spcPct val="104000"/>
              </a:lnSpc>
              <a:buNone/>
            </a:pPr>
            <a:r>
              <a:rPr lang="en-US" sz="1250" dirty="0">
                <a:solidFill>
                  <a:srgbClr val="5C6B80"/>
                </a:solidFill>
                <a:latin typeface="Calibri" pitchFamily="34" charset="0"/>
                <a:ea typeface="Calibri" pitchFamily="34" charset="-122"/>
                <a:cs typeface="Calibri" pitchFamily="34" charset="-120"/>
              </a:rPr>
              <a:t>Press Try again — a retry always gets the full time allowance.</a:t>
            </a:r>
            <a:endParaRPr lang="en-US" sz="1250" dirty="0"/>
          </a:p>
        </p:txBody>
      </p:sp>
      <p:sp>
        <p:nvSpPr>
          <p:cNvPr id="25" name="Shape 23"/>
          <p:cNvSpPr/>
          <p:nvPr/>
        </p:nvSpPr>
        <p:spPr>
          <a:xfrm>
            <a:off x="713232" y="5006340"/>
            <a:ext cx="10765231" cy="7315"/>
          </a:xfrm>
          <a:prstGeom prst="rect">
            <a:avLst/>
          </a:prstGeom>
          <a:solidFill>
            <a:srgbClr val="EDEFF3"/>
          </a:solidFill>
          <a:ln w="12700">
            <a:solidFill>
              <a:srgbClr val="EDEFF3"/>
            </a:solidFill>
            <a:prstDash val="solid"/>
          </a:ln>
        </p:spPr>
      </p:sp>
      <p:sp>
        <p:nvSpPr>
          <p:cNvPr id="26" name="Text 24"/>
          <p:cNvSpPr txBox="1"/>
          <p:nvPr/>
        </p:nvSpPr>
        <p:spPr>
          <a:xfrm>
            <a:off x="713232" y="5084064"/>
            <a:ext cx="4297680" cy="457200"/>
          </a:xfrm>
          <a:prstGeom prst="rect">
            <a:avLst/>
          </a:prstGeom>
          <a:noFill/>
          <a:ln/>
        </p:spPr>
        <p:txBody>
          <a:bodyPr wrap="square" lIns="0" tIns="0" rIns="0" bIns="0" rtlCol="0" anchor="ctr"/>
          <a:lstStyle/>
          <a:p>
            <a:pPr indent="0" marL="0">
              <a:lnSpc>
                <a:spcPct val="104000"/>
              </a:lnSpc>
              <a:buNone/>
            </a:pPr>
            <a:r>
              <a:rPr lang="en-US" sz="1250" b="1" dirty="0">
                <a:solidFill>
                  <a:srgbClr val="0F172A"/>
                </a:solidFill>
                <a:latin typeface="Calibri" pitchFamily="34" charset="0"/>
                <a:ea typeface="Calibri" pitchFamily="34" charset="-122"/>
                <a:cs typeface="Calibri" pitchFamily="34" charset="-120"/>
              </a:rPr>
              <a:t>Quotes show as expired</a:t>
            </a:r>
            <a:endParaRPr lang="en-US" sz="1250" dirty="0"/>
          </a:p>
        </p:txBody>
      </p:sp>
      <p:sp>
        <p:nvSpPr>
          <p:cNvPr id="27" name="Text 25"/>
          <p:cNvSpPr txBox="1"/>
          <p:nvPr/>
        </p:nvSpPr>
        <p:spPr>
          <a:xfrm>
            <a:off x="5193792" y="5084064"/>
            <a:ext cx="6284671" cy="457200"/>
          </a:xfrm>
          <a:prstGeom prst="rect">
            <a:avLst/>
          </a:prstGeom>
          <a:noFill/>
          <a:ln/>
        </p:spPr>
        <p:txBody>
          <a:bodyPr wrap="square" lIns="0" tIns="0" rIns="0" bIns="0" rtlCol="0" anchor="ctr"/>
          <a:lstStyle/>
          <a:p>
            <a:pPr indent="0" marL="0">
              <a:lnSpc>
                <a:spcPct val="104000"/>
              </a:lnSpc>
              <a:buNone/>
            </a:pPr>
            <a:r>
              <a:rPr lang="en-US" sz="1250" dirty="0">
                <a:solidFill>
                  <a:srgbClr val="5C6B80"/>
                </a:solidFill>
                <a:latin typeface="Calibri" pitchFamily="34" charset="0"/>
                <a:ea typeface="Calibri" pitchFamily="34" charset="-122"/>
                <a:cs typeface="Calibri" pitchFamily="34" charset="-120"/>
              </a:rPr>
              <a:t>The demo data is dated relative to the seed run. Re-seed with --extract --clean.</a:t>
            </a:r>
            <a:endParaRPr lang="en-US" sz="1250" dirty="0"/>
          </a:p>
        </p:txBody>
      </p:sp>
      <p:sp>
        <p:nvSpPr>
          <p:cNvPr id="28" name="Shape 26"/>
          <p:cNvSpPr/>
          <p:nvPr/>
        </p:nvSpPr>
        <p:spPr>
          <a:xfrm>
            <a:off x="713232" y="5527548"/>
            <a:ext cx="10765231" cy="7315"/>
          </a:xfrm>
          <a:prstGeom prst="rect">
            <a:avLst/>
          </a:prstGeom>
          <a:solidFill>
            <a:srgbClr val="EDEFF3"/>
          </a:solidFill>
          <a:ln w="12700">
            <a:solidFill>
              <a:srgbClr val="EDEFF3"/>
            </a:solidFill>
            <a:prstDash val="solid"/>
          </a:ln>
        </p:spPr>
      </p:sp>
      <p:sp>
        <p:nvSpPr>
          <p:cNvPr id="29" name="Text 27"/>
          <p:cNvSpPr txBox="1"/>
          <p:nvPr/>
        </p:nvSpPr>
        <p:spPr>
          <a:xfrm>
            <a:off x="713232" y="5605272"/>
            <a:ext cx="4297680" cy="457200"/>
          </a:xfrm>
          <a:prstGeom prst="rect">
            <a:avLst/>
          </a:prstGeom>
          <a:noFill/>
          <a:ln/>
        </p:spPr>
        <p:txBody>
          <a:bodyPr wrap="square" lIns="0" tIns="0" rIns="0" bIns="0" rtlCol="0" anchor="ctr"/>
          <a:lstStyle/>
          <a:p>
            <a:pPr indent="0" marL="0">
              <a:lnSpc>
                <a:spcPct val="104000"/>
              </a:lnSpc>
              <a:buNone/>
            </a:pPr>
            <a:r>
              <a:rPr lang="en-US" sz="1250" b="1" dirty="0">
                <a:solidFill>
                  <a:srgbClr val="0F172A"/>
                </a:solidFill>
                <a:latin typeface="Calibri" pitchFamily="34" charset="0"/>
                <a:ea typeface="Calibri" pitchFamily="34" charset="-122"/>
                <a:cs typeface="Calibri" pitchFamily="34" charset="-120"/>
              </a:rPr>
              <a:t>Port 8501 already in use</a:t>
            </a:r>
            <a:endParaRPr lang="en-US" sz="1250" dirty="0"/>
          </a:p>
        </p:txBody>
      </p:sp>
      <p:sp>
        <p:nvSpPr>
          <p:cNvPr id="30" name="Text 28"/>
          <p:cNvSpPr txBox="1"/>
          <p:nvPr/>
        </p:nvSpPr>
        <p:spPr>
          <a:xfrm>
            <a:off x="5193792" y="5605272"/>
            <a:ext cx="6284671" cy="457200"/>
          </a:xfrm>
          <a:prstGeom prst="rect">
            <a:avLst/>
          </a:prstGeom>
          <a:noFill/>
          <a:ln/>
        </p:spPr>
        <p:txBody>
          <a:bodyPr wrap="square" lIns="0" tIns="0" rIns="0" bIns="0" rtlCol="0" anchor="ctr"/>
          <a:lstStyle/>
          <a:p>
            <a:pPr indent="0" marL="0">
              <a:lnSpc>
                <a:spcPct val="104000"/>
              </a:lnSpc>
              <a:buNone/>
            </a:pPr>
            <a:r>
              <a:rPr lang="en-US" sz="1250" dirty="0">
                <a:solidFill>
                  <a:srgbClr val="5C6B80"/>
                </a:solidFill>
                <a:latin typeface="Calibri" pitchFamily="34" charset="0"/>
                <a:ea typeface="Calibri" pitchFamily="34" charset="-122"/>
                <a:cs typeface="Calibri" pitchFamily="34" charset="-120"/>
              </a:rPr>
              <a:t>Add --server.port 8502 to the streamlit command.</a:t>
            </a:r>
            <a:endParaRPr lang="en-US" sz="1250" dirty="0"/>
          </a:p>
        </p:txBody>
      </p:sp>
      <p:sp>
        <p:nvSpPr>
          <p:cNvPr id="31" name="Text 29"/>
          <p:cNvSpPr txBox="1"/>
          <p:nvPr/>
        </p:nvSpPr>
        <p:spPr>
          <a:xfrm>
            <a:off x="713232" y="6382512"/>
            <a:ext cx="6400800" cy="274320"/>
          </a:xfrm>
          <a:prstGeom prst="rect">
            <a:avLst/>
          </a:prstGeom>
          <a:noFill/>
          <a:ln/>
        </p:spPr>
        <p:txBody>
          <a:bodyPr wrap="square" lIns="0" tIns="0" rIns="0" bIns="0" rtlCol="0" anchor="ctr"/>
          <a:lstStyle/>
          <a:p>
            <a:pPr indent="0" marL="0">
              <a:buNone/>
            </a:pPr>
            <a:r>
              <a:rPr lang="en-US" sz="800" spc="120" kern="0" dirty="0">
                <a:solidFill>
                  <a:srgbClr val="8A97A8"/>
                </a:solidFill>
                <a:latin typeface="Courier New" pitchFamily="34" charset="0"/>
                <a:ea typeface="Courier New" pitchFamily="34" charset="-122"/>
                <a:cs typeface="Courier New" pitchFamily="34" charset="-120"/>
              </a:rPr>
              <a:t>AI PROCUREMENT ANALYST  ·  SETUP GUIDE</a:t>
            </a:r>
            <a:endParaRPr lang="en-US" sz="800" dirty="0"/>
          </a:p>
        </p:txBody>
      </p:sp>
      <p:sp>
        <p:nvSpPr>
          <p:cNvPr id="32" name="Text 30"/>
          <p:cNvSpPr txBox="1"/>
          <p:nvPr/>
        </p:nvSpPr>
        <p:spPr>
          <a:xfrm>
            <a:off x="9649663" y="6382512"/>
            <a:ext cx="1828800" cy="274320"/>
          </a:xfrm>
          <a:prstGeom prst="rect">
            <a:avLst/>
          </a:prstGeom>
          <a:noFill/>
          <a:ln/>
        </p:spPr>
        <p:txBody>
          <a:bodyPr wrap="square" lIns="0" tIns="0" rIns="0" bIns="0" rtlCol="0" anchor="ctr"/>
          <a:lstStyle/>
          <a:p>
            <a:pPr algn="r" indent="0" marL="0">
              <a:buNone/>
            </a:pPr>
            <a:r>
              <a:rPr lang="en-US" sz="800" b="1" spc="60" kern="0" dirty="0">
                <a:solidFill>
                  <a:srgbClr val="5C6B80"/>
                </a:solidFill>
                <a:latin typeface="Courier New" pitchFamily="34" charset="0"/>
                <a:ea typeface="Courier New" pitchFamily="34" charset="-122"/>
                <a:cs typeface="Courier New" pitchFamily="34" charset="-120"/>
              </a:rPr>
              <a:t>9 / 10</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2563EB"/>
          </a:solidFill>
          <a:ln w="12700">
            <a:solidFill>
              <a:srgbClr val="2563EB"/>
            </a:solidFill>
            <a:prstDash val="solid"/>
          </a:ln>
        </p:spPr>
      </p:sp>
      <p:sp>
        <p:nvSpPr>
          <p:cNvPr id="3" name="Text 1"/>
          <p:cNvSpPr txBox="1"/>
          <p:nvPr/>
        </p:nvSpPr>
        <p:spPr>
          <a:xfrm>
            <a:off x="713232" y="1783080"/>
            <a:ext cx="10765231" cy="274320"/>
          </a:xfrm>
          <a:prstGeom prst="rect">
            <a:avLst/>
          </a:prstGeom>
          <a:noFill/>
          <a:ln/>
        </p:spPr>
        <p:txBody>
          <a:bodyPr wrap="square" lIns="0" tIns="0" rIns="0" bIns="0" rtlCol="0" anchor="ctr"/>
          <a:lstStyle/>
          <a:p>
            <a:pPr indent="0" marL="0">
              <a:buNone/>
            </a:pPr>
            <a:r>
              <a:rPr lang="en-US" sz="1100" spc="220" kern="0" dirty="0">
                <a:solidFill>
                  <a:srgbClr val="7FB2FF"/>
                </a:solidFill>
                <a:latin typeface="Courier New" pitchFamily="34" charset="0"/>
                <a:ea typeface="Courier New" pitchFamily="34" charset="-122"/>
                <a:cs typeface="Courier New" pitchFamily="34" charset="-120"/>
              </a:rPr>
              <a:t>YOU'RE READY</a:t>
            </a:r>
            <a:endParaRPr lang="en-US" sz="1100" dirty="0"/>
          </a:p>
        </p:txBody>
      </p:sp>
      <p:sp>
        <p:nvSpPr>
          <p:cNvPr id="4" name="Text 2"/>
          <p:cNvSpPr txBox="1"/>
          <p:nvPr/>
        </p:nvSpPr>
        <p:spPr>
          <a:xfrm>
            <a:off x="713232" y="2148840"/>
            <a:ext cx="9509760" cy="1645920"/>
          </a:xfrm>
          <a:prstGeom prst="rect">
            <a:avLst/>
          </a:prstGeom>
          <a:noFill/>
          <a:ln/>
        </p:spPr>
        <p:txBody>
          <a:bodyPr wrap="square" lIns="0" tIns="0" rIns="0" bIns="0" rtlCol="0" anchor="ctr"/>
          <a:lstStyle/>
          <a:p>
            <a:pPr indent="0" marL="0">
              <a:lnSpc>
                <a:spcPct val="105000"/>
              </a:lnSpc>
              <a:buNone/>
            </a:pPr>
            <a:r>
              <a:rPr lang="en-US" sz="3800" b="1" dirty="0">
                <a:solidFill>
                  <a:srgbClr val="FFFFFF"/>
                </a:solidFill>
                <a:latin typeface="Cambria" pitchFamily="34" charset="0"/>
                <a:ea typeface="Cambria" pitchFamily="34" charset="-122"/>
                <a:cs typeface="Cambria" pitchFamily="34" charset="-120"/>
              </a:rPr>
              <a:t>Open the worked example</a:t>
            </a:r>
            <a:endParaRPr lang="en-US" sz="3800" dirty="0"/>
          </a:p>
          <a:p>
            <a:pPr indent="0" marL="0">
              <a:lnSpc>
                <a:spcPct val="105000"/>
              </a:lnSpc>
              <a:buNone/>
            </a:pPr>
            <a:r>
              <a:rPr lang="en-US" sz="3800" b="1" dirty="0">
                <a:solidFill>
                  <a:srgbClr val="FFFFFF"/>
                </a:solidFill>
                <a:latin typeface="Cambria" pitchFamily="34" charset="0"/>
                <a:ea typeface="Cambria" pitchFamily="34" charset="-122"/>
                <a:cs typeface="Cambria" pitchFamily="34" charset="-120"/>
              </a:rPr>
              <a:t>and start at the comparison.</a:t>
            </a:r>
            <a:endParaRPr lang="en-US" sz="3800" dirty="0"/>
          </a:p>
        </p:txBody>
      </p:sp>
      <p:sp>
        <p:nvSpPr>
          <p:cNvPr id="5" name="Text 3"/>
          <p:cNvSpPr txBox="1"/>
          <p:nvPr/>
        </p:nvSpPr>
        <p:spPr>
          <a:xfrm>
            <a:off x="713232" y="3886200"/>
            <a:ext cx="9509760" cy="640080"/>
          </a:xfrm>
          <a:prstGeom prst="rect">
            <a:avLst/>
          </a:prstGeom>
          <a:noFill/>
          <a:ln/>
        </p:spPr>
        <p:txBody>
          <a:bodyPr wrap="square" lIns="0" tIns="0" rIns="0" bIns="0" rtlCol="0" anchor="ctr"/>
          <a:lstStyle/>
          <a:p>
            <a:pPr indent="0" marL="0">
              <a:lnSpc>
                <a:spcPct val="114000"/>
              </a:lnSpc>
              <a:buNone/>
            </a:pPr>
            <a:r>
              <a:rPr lang="en-US" sz="1600" dirty="0">
                <a:solidFill>
                  <a:srgbClr val="AFC0D6"/>
                </a:solidFill>
                <a:latin typeface="Calibri" pitchFamily="34" charset="0"/>
                <a:ea typeface="Calibri" pitchFamily="34" charset="-122"/>
                <a:cs typeface="Calibri" pitchFamily="34" charset="-120"/>
              </a:rPr>
              <a:t>A 30-line RFQ with five suppliers who already replied in five different formats — so every screen has something real on it from the first click.</a:t>
            </a:r>
            <a:endParaRPr lang="en-US" sz="1600" dirty="0"/>
          </a:p>
        </p:txBody>
      </p:sp>
      <p:sp>
        <p:nvSpPr>
          <p:cNvPr id="6" name="Shape 4"/>
          <p:cNvSpPr/>
          <p:nvPr/>
        </p:nvSpPr>
        <p:spPr>
          <a:xfrm>
            <a:off x="713232" y="4846320"/>
            <a:ext cx="2194560" cy="18288"/>
          </a:xfrm>
          <a:prstGeom prst="rect">
            <a:avLst/>
          </a:prstGeom>
          <a:solidFill>
            <a:srgbClr val="3D5578"/>
          </a:solidFill>
          <a:ln w="12700">
            <a:solidFill>
              <a:srgbClr val="3D5578"/>
            </a:solidFill>
            <a:prstDash val="solid"/>
          </a:ln>
        </p:spPr>
      </p:sp>
      <p:sp>
        <p:nvSpPr>
          <p:cNvPr id="7" name="Text 5"/>
          <p:cNvSpPr txBox="1"/>
          <p:nvPr/>
        </p:nvSpPr>
        <p:spPr>
          <a:xfrm>
            <a:off x="713232" y="5029200"/>
            <a:ext cx="9509760" cy="310896"/>
          </a:xfrm>
          <a:prstGeom prst="rect">
            <a:avLst/>
          </a:prstGeom>
          <a:noFill/>
          <a:ln/>
        </p:spPr>
        <p:txBody>
          <a:bodyPr wrap="square" lIns="0" tIns="0" rIns="0" bIns="0" rtlCol="0" anchor="ctr"/>
          <a:lstStyle/>
          <a:p>
            <a:pPr indent="0" marL="0">
              <a:buNone/>
            </a:pPr>
            <a:r>
              <a:rPr lang="en-US" sz="1100" spc="60" kern="0" dirty="0">
                <a:solidFill>
                  <a:srgbClr val="8095B2"/>
                </a:solidFill>
                <a:latin typeface="Courier New" pitchFamily="34" charset="0"/>
                <a:ea typeface="Courier New" pitchFamily="34" charset="-122"/>
                <a:cs typeface="Courier New" pitchFamily="34" charset="-120"/>
              </a:rPr>
              <a:t>Nothing is emailed · no supplier is contacted · the order handoff is a file you download</a:t>
            </a:r>
            <a:endParaRPr lang="en-US" sz="1100" dirty="0"/>
          </a:p>
        </p:txBody>
      </p:sp>
      <p:sp>
        <p:nvSpPr>
          <p:cNvPr id="8" name="Text 6"/>
          <p:cNvSpPr txBox="1"/>
          <p:nvPr/>
        </p:nvSpPr>
        <p:spPr>
          <a:xfrm>
            <a:off x="713232" y="6382512"/>
            <a:ext cx="6400800" cy="274320"/>
          </a:xfrm>
          <a:prstGeom prst="rect">
            <a:avLst/>
          </a:prstGeom>
          <a:noFill/>
          <a:ln/>
        </p:spPr>
        <p:txBody>
          <a:bodyPr wrap="square" lIns="0" tIns="0" rIns="0" bIns="0" rtlCol="0" anchor="ctr"/>
          <a:lstStyle/>
          <a:p>
            <a:pPr indent="0" marL="0">
              <a:buNone/>
            </a:pPr>
            <a:r>
              <a:rPr lang="en-US" sz="800" spc="120" kern="0" dirty="0">
                <a:solidFill>
                  <a:srgbClr val="6B7C94"/>
                </a:solidFill>
                <a:latin typeface="Courier New" pitchFamily="34" charset="0"/>
                <a:ea typeface="Courier New" pitchFamily="34" charset="-122"/>
                <a:cs typeface="Courier New" pitchFamily="34" charset="-120"/>
              </a:rPr>
              <a:t>AI PROCUREMENT ANALYST  ·  SETUP GUIDE</a:t>
            </a:r>
            <a:endParaRPr lang="en-US" sz="800" dirty="0"/>
          </a:p>
        </p:txBody>
      </p:sp>
      <p:sp>
        <p:nvSpPr>
          <p:cNvPr id="9" name="Text 7"/>
          <p:cNvSpPr txBox="1"/>
          <p:nvPr/>
        </p:nvSpPr>
        <p:spPr>
          <a:xfrm>
            <a:off x="9649663" y="6382512"/>
            <a:ext cx="1828800" cy="274320"/>
          </a:xfrm>
          <a:prstGeom prst="rect">
            <a:avLst/>
          </a:prstGeom>
          <a:noFill/>
          <a:ln/>
        </p:spPr>
        <p:txBody>
          <a:bodyPr wrap="square" lIns="0" tIns="0" rIns="0" bIns="0" rtlCol="0" anchor="ctr"/>
          <a:lstStyle/>
          <a:p>
            <a:pPr algn="r" indent="0" marL="0">
              <a:buNone/>
            </a:pPr>
            <a:r>
              <a:rPr lang="en-US" sz="800" b="1" spc="60" kern="0" dirty="0">
                <a:solidFill>
                  <a:srgbClr val="9FB0C6"/>
                </a:solidFill>
                <a:latin typeface="Courier New" pitchFamily="34" charset="0"/>
                <a:ea typeface="Courier New" pitchFamily="34" charset="-122"/>
                <a:cs typeface="Courier New" pitchFamily="34" charset="-120"/>
              </a:rPr>
              <a:t>10 / 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Procurement Analyst — Setup Guide</dc:title>
  <dc:subject>PptxGenJS Presentation</dc:subject>
  <dc:creator>AI Procurement Analyst</dc:creator>
  <cp:lastModifiedBy>AI Procurement Analyst</cp:lastModifiedBy>
  <cp:revision>1</cp:revision>
  <dcterms:created xsi:type="dcterms:W3CDTF">2026-09-13T09:55:20Z</dcterms:created>
  <dcterms:modified xsi:type="dcterms:W3CDTF">2026-09-13T09:55:20Z</dcterms:modified>
</cp:coreProperties>
</file>